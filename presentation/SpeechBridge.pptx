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SpeechBridge는 대화를 번역하고 기록·요약·할 일로 이어주는 앱입니다. Android와 iOS에서 사용할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녹음 중 인식 원문과 번역을 확인합니다. 입력 언어는 자동으로 감지하고 번역 대상은 바꿀 수 있습니다. 한국어·영어·일본어를 지원합니다. 새 번역은 자동으로 읽어줍니다. 자동 읽기는 설정에서 끌 수 있습니다. 오른쪽 화면은 합성 음성을 인식하고 번역한 결과입니다.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대화는 자동으로 저장됩니다. 대화가 끝나면 AI가 제목을 붙이고 분류와 요약을 정리합니다. 이후에는 사용자가 직접 수정합니다. 일상·업무·업무 폴더로 기록을 찾고 녹음 길이를 확인할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대화에서 찾은 할 일 후보는 원문을 확인한 뒤 등록하고 완료합니다. 할 일에서 원래 기록으로 돌아갈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Nemotron은 음성 인식, TranslateGemma는 번역, Gemma 4는 기록 정리, Qwen3-TTS는 번역문 음성 합성을 담당합니다.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모바일 앱 ↔ 서버의 Node.js HTTP API ↔ 서버 내부 AI 처리·PostgreSQL.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Demo.command를 실행해 시연을 준비합니다. 보조 키보드로 “please prepare demo slides by friday”를 입력해 번역을 보여주고 대화를 종료해 요약을 확인한 뒤 할 일 근거를 검토합니다. 화면에 나온 내용은 시연용 가상 데이터입니다. 실제 휴대전화·마이크·청취 검증은 보류 중이라 이번에는 텍스트를 입력해 시연합니다.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40080" y="1353312"/>
            <a:ext cx="6766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대화에서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할 일까지.</a:t>
            </a:r>
            <a:endParaRPr lang="en-US" sz="5200" dirty="0"/>
          </a:p>
        </p:txBody>
      </p:sp>
      <p:sp>
        <p:nvSpPr>
          <p:cNvPr id="6" name="Text 3"/>
          <p:cNvSpPr/>
          <p:nvPr/>
        </p:nvSpPr>
        <p:spPr>
          <a:xfrm>
            <a:off x="685800" y="342900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43891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번역  ·  기록  ·  요약  ·  할 일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713232" y="583387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Android · iOS</a:t>
            </a:r>
            <a:endParaRPr lang="en-US" sz="1800" dirty="0"/>
          </a:p>
        </p:txBody>
      </p:sp>
      <p:pic>
        <p:nvPicPr>
          <p:cNvPr id="9" name="Image 0" descr="/Users/molla/UC/4-2/AI/middle_test/SpeechBridge/presentation/assets/talk.png">    </p:cNvPr>
          <p:cNvPicPr>
            <a:picLocks noChangeAspect="1"/>
          </p:cNvPicPr>
          <p:nvPr/>
        </p:nvPicPr>
        <p:blipFill>
          <a:blip r:embed="rId1"/>
          <a:srcRect l="0" r="0" t="6173" b="0"/>
          <a:stretch/>
        </p:blipFill>
        <p:spPr>
          <a:xfrm>
            <a:off x="8458200" y="411480"/>
            <a:ext cx="2948940" cy="58978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입력·번역·읽어주기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000" dirty="0"/>
          </a:p>
        </p:txBody>
      </p:sp>
      <p:pic>
        <p:nvPicPr>
          <p:cNvPr id="6" name="Image 0" descr="/Users/molla/UC/4-2/AI/middle_test/SpeechBridge/presentation/assets/translation.png">    </p:cNvPr>
          <p:cNvPicPr>
            <a:picLocks noChangeAspect="1"/>
          </p:cNvPicPr>
          <p:nvPr/>
        </p:nvPicPr>
        <p:blipFill>
          <a:blip r:embed="rId1"/>
          <a:srcRect l="0" r="0" t="6173" b="0"/>
          <a:stretch/>
        </p:blipFill>
        <p:spPr>
          <a:xfrm>
            <a:off x="8321040" y="914400"/>
            <a:ext cx="2697480" cy="53949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85800" y="196596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인식·번역 미리보기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685800" y="28803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한국어 · 영어 · 일본어</a:t>
            </a:r>
            <a:endParaRPr lang="en-US" sz="2900" dirty="0"/>
          </a:p>
        </p:txBody>
      </p:sp>
      <p:sp>
        <p:nvSpPr>
          <p:cNvPr id="9" name="Text 5"/>
          <p:cNvSpPr/>
          <p:nvPr/>
        </p:nvSpPr>
        <p:spPr>
          <a:xfrm>
            <a:off x="685800" y="41148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새 번역 자동 읽기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685800" y="48006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설정에서 끄기 · 수동 듣기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대화 기록과 요약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000" dirty="0"/>
          </a:p>
        </p:txBody>
      </p:sp>
      <p:pic>
        <p:nvPicPr>
          <p:cNvPr id="6" name="Image 0" descr="/Users/molla/UC/4-2/AI/middle_test/SpeechBridge/presentation/assets/history.png">    </p:cNvPr>
          <p:cNvPicPr>
            <a:picLocks noChangeAspect="1"/>
          </p:cNvPicPr>
          <p:nvPr/>
        </p:nvPicPr>
        <p:blipFill>
          <a:blip r:embed="rId1"/>
          <a:srcRect l="0" r="0" t="6173" b="0"/>
          <a:stretch/>
        </p:blipFill>
        <p:spPr>
          <a:xfrm>
            <a:off x="640080" y="1737360"/>
            <a:ext cx="2263140" cy="4526280"/>
          </a:xfrm>
          <a:prstGeom prst="rect">
            <a:avLst/>
          </a:prstGeom>
        </p:spPr>
      </p:pic>
      <p:pic>
        <p:nvPicPr>
          <p:cNvPr id="7" name="Image 1" descr="/Users/molla/UC/4-2/AI/middle_test/SpeechBridge/presentation/assets/summary.png">    </p:cNvPr>
          <p:cNvPicPr>
            <a:picLocks noChangeAspect="1"/>
          </p:cNvPicPr>
          <p:nvPr/>
        </p:nvPicPr>
        <p:blipFill>
          <a:blip r:embed="rId2"/>
          <a:srcRect l="0" r="0" t="6173" b="0"/>
          <a:stretch/>
        </p:blipFill>
        <p:spPr>
          <a:xfrm>
            <a:off x="3154680" y="1737360"/>
            <a:ext cx="2263140" cy="452628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989320" y="21945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저장 · 종료 후 요약</a:t>
            </a:r>
            <a:endParaRPr lang="en-US" sz="2400" dirty="0"/>
          </a:p>
        </p:txBody>
      </p:sp>
      <p:sp>
        <p:nvSpPr>
          <p:cNvPr id="9" name="Text 4"/>
          <p:cNvSpPr/>
          <p:nvPr/>
        </p:nvSpPr>
        <p:spPr>
          <a:xfrm>
            <a:off x="5989320" y="33832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일상 / 업무 / 업무 폴더</a:t>
            </a:r>
            <a:endParaRPr lang="en-US" sz="2700" dirty="0"/>
          </a:p>
        </p:txBody>
      </p:sp>
      <p:sp>
        <p:nvSpPr>
          <p:cNvPr id="10" name="Text 5"/>
          <p:cNvSpPr/>
          <p:nvPr/>
        </p:nvSpPr>
        <p:spPr>
          <a:xfrm>
            <a:off x="5989320" y="46634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이후 편집은 직접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할 일 관리와 원문 확인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000" dirty="0"/>
          </a:p>
        </p:txBody>
      </p:sp>
      <p:pic>
        <p:nvPicPr>
          <p:cNvPr id="6" name="Image 0" descr="/Users/molla/UC/4-2/AI/middle_test/SpeechBridge/presentation/assets/evidence.png">    </p:cNvPr>
          <p:cNvPicPr>
            <a:picLocks noChangeAspect="1"/>
          </p:cNvPicPr>
          <p:nvPr/>
        </p:nvPicPr>
        <p:blipFill>
          <a:blip r:embed="rId1"/>
          <a:srcRect l="0" r="0" t="6173" b="0"/>
          <a:stretch/>
        </p:blipFill>
        <p:spPr>
          <a:xfrm>
            <a:off x="640080" y="1691640"/>
            <a:ext cx="2286000" cy="4572000"/>
          </a:xfrm>
          <a:prstGeom prst="rect">
            <a:avLst/>
          </a:prstGeom>
        </p:spPr>
      </p:pic>
      <p:pic>
        <p:nvPicPr>
          <p:cNvPr id="7" name="Image 1" descr="/Users/molla/UC/4-2/AI/middle_test/SpeechBridge/presentation/assets/tasks.png">    </p:cNvPr>
          <p:cNvPicPr>
            <a:picLocks noChangeAspect="1"/>
          </p:cNvPicPr>
          <p:nvPr/>
        </p:nvPicPr>
        <p:blipFill>
          <a:blip r:embed="rId2"/>
          <a:srcRect l="0" r="0" t="6173" b="0"/>
          <a:stretch/>
        </p:blipFill>
        <p:spPr>
          <a:xfrm>
            <a:off x="3200400" y="1691640"/>
            <a:ext cx="2286000" cy="45720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035040" y="21945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원문 근거 확인</a:t>
            </a:r>
            <a:endParaRPr lang="en-US" sz="2400" dirty="0"/>
          </a:p>
        </p:txBody>
      </p:sp>
      <p:sp>
        <p:nvSpPr>
          <p:cNvPr id="9" name="Text 4"/>
          <p:cNvSpPr/>
          <p:nvPr/>
        </p:nvSpPr>
        <p:spPr>
          <a:xfrm>
            <a:off x="6035040" y="34747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검토 → 등록 → 완료</a:t>
            </a:r>
            <a:endParaRPr lang="en-US" sz="2800" dirty="0"/>
          </a:p>
        </p:txBody>
      </p:sp>
      <p:sp>
        <p:nvSpPr>
          <p:cNvPr id="10" name="Text 5"/>
          <p:cNvSpPr/>
          <p:nvPr/>
        </p:nvSpPr>
        <p:spPr>
          <a:xfrm>
            <a:off x="6035040" y="47548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할 일과 대화 기록 연결</a:t>
            </a:r>
            <a:endParaRPr lang="en-US" sz="2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모델별 역할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10881360" cy="896112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32688" y="186537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Nemotron 3.5 ASR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5504688" y="1865376"/>
            <a:ext cx="5623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인식 · 언어 감지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640080" y="2770632"/>
            <a:ext cx="10881360" cy="896112"/>
          </a:xfrm>
          <a:prstGeom prst="roundRect">
            <a:avLst>
              <a:gd name="adj" fmla="val 20408"/>
            </a:avLst>
          </a:prstGeom>
          <a:solidFill>
            <a:srgbClr val="DFE5FF"/>
          </a:solidFill>
          <a:ln w="12700">
            <a:solidFill>
              <a:srgbClr val="DFE5FF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2688" y="2944368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TranslateGemma</a:t>
            </a:r>
            <a:endParaRPr lang="en-US" sz="2700" dirty="0"/>
          </a:p>
        </p:txBody>
      </p:sp>
      <p:sp>
        <p:nvSpPr>
          <p:cNvPr id="11" name="Text 8"/>
          <p:cNvSpPr/>
          <p:nvPr/>
        </p:nvSpPr>
        <p:spPr>
          <a:xfrm>
            <a:off x="5504688" y="2944368"/>
            <a:ext cx="5623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대화 번역</a:t>
            </a:r>
            <a:endParaRPr lang="en-US" sz="2500" dirty="0"/>
          </a:p>
        </p:txBody>
      </p:sp>
      <p:sp>
        <p:nvSpPr>
          <p:cNvPr id="12" name="Shape 9"/>
          <p:cNvSpPr/>
          <p:nvPr/>
        </p:nvSpPr>
        <p:spPr>
          <a:xfrm>
            <a:off x="640080" y="3849624"/>
            <a:ext cx="10881360" cy="896112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2688" y="4023360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Gemma 4</a:t>
            </a:r>
            <a:endParaRPr lang="en-US" sz="2700" dirty="0"/>
          </a:p>
        </p:txBody>
      </p:sp>
      <p:sp>
        <p:nvSpPr>
          <p:cNvPr id="14" name="Text 11"/>
          <p:cNvSpPr/>
          <p:nvPr/>
        </p:nvSpPr>
        <p:spPr>
          <a:xfrm>
            <a:off x="5504688" y="4023360"/>
            <a:ext cx="5623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제목 · 분류 · 요약 · 할 일 추출</a:t>
            </a:r>
            <a:endParaRPr lang="en-US" sz="2500" dirty="0"/>
          </a:p>
        </p:txBody>
      </p:sp>
      <p:sp>
        <p:nvSpPr>
          <p:cNvPr id="15" name="Shape 12"/>
          <p:cNvSpPr/>
          <p:nvPr/>
        </p:nvSpPr>
        <p:spPr>
          <a:xfrm>
            <a:off x="640080" y="4928616"/>
            <a:ext cx="10881360" cy="896112"/>
          </a:xfrm>
          <a:prstGeom prst="roundRect">
            <a:avLst>
              <a:gd name="adj" fmla="val 20408"/>
            </a:avLst>
          </a:prstGeom>
          <a:solidFill>
            <a:srgbClr val="DFE5FF"/>
          </a:solidFill>
          <a:ln w="12700">
            <a:solidFill>
              <a:srgbClr val="DFE5FF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2688" y="5102352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Qwen3-TTS</a:t>
            </a:r>
            <a:endParaRPr lang="en-US" sz="2700" dirty="0"/>
          </a:p>
        </p:txBody>
      </p:sp>
      <p:sp>
        <p:nvSpPr>
          <p:cNvPr id="17" name="Text 14"/>
          <p:cNvSpPr/>
          <p:nvPr/>
        </p:nvSpPr>
        <p:spPr>
          <a:xfrm>
            <a:off x="5504688" y="5102352"/>
            <a:ext cx="5623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번역문 음성 합성</a:t>
            </a:r>
            <a:endParaRPr lang="en-US" sz="2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시스템 아키텍처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090672" y="1536192"/>
            <a:ext cx="8503920" cy="4608576"/>
          </a:xfrm>
          <a:prstGeom prst="roundRect">
            <a:avLst>
              <a:gd name="adj" fmla="val 3968"/>
            </a:avLst>
          </a:prstGeom>
          <a:solidFill>
            <a:srgbClr val="DFE5FF"/>
          </a:solidFill>
          <a:ln w="12700">
            <a:solidFill>
              <a:srgbClr val="DFE5FF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429000" y="1792224"/>
            <a:ext cx="76809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 서버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94360" y="2359152"/>
            <a:ext cx="1883664" cy="2770632"/>
          </a:xfrm>
          <a:prstGeom prst="roundRect">
            <a:avLst>
              <a:gd name="adj" fmla="val 970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61872" y="2688336"/>
            <a:ext cx="548640" cy="795528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40539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26464" y="3364992"/>
            <a:ext cx="219456" cy="0"/>
          </a:xfrm>
          <a:prstGeom prst="line">
            <a:avLst/>
          </a:prstGeom>
          <a:noFill/>
          <a:ln w="25400">
            <a:solidFill>
              <a:srgbClr val="40539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58952" y="367588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모바일 앱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758952" y="4261104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· 텍스트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731520" y="4681728"/>
            <a:ext cx="16093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번역 · 기록 · 할 일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3447288" y="2459736"/>
            <a:ext cx="7781544" cy="1289304"/>
          </a:xfrm>
          <a:prstGeom prst="roundRect">
            <a:avLst>
              <a:gd name="adj" fmla="val 14184"/>
            </a:avLst>
          </a:prstGeom>
          <a:solidFill>
            <a:srgbClr val="405394"/>
          </a:solidFill>
          <a:ln w="12700">
            <a:solidFill>
              <a:srgbClr val="405394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685032" y="2633472"/>
            <a:ext cx="1536192" cy="502920"/>
          </a:xfrm>
          <a:prstGeom prst="roundRect">
            <a:avLst>
              <a:gd name="adj" fmla="val 3636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0" descr="nodej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03005" y="2715768"/>
            <a:ext cx="1100246" cy="32918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657600" y="3264408"/>
            <a:ext cx="15910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HTTP API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5596128" y="2706624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인식 · 번역 · 음성 합성</a:t>
            </a:r>
            <a:endParaRPr lang="en-US" sz="2300" dirty="0"/>
          </a:p>
        </p:txBody>
      </p:sp>
      <p:sp>
        <p:nvSpPr>
          <p:cNvPr id="19" name="Text 15"/>
          <p:cNvSpPr/>
          <p:nvPr/>
        </p:nvSpPr>
        <p:spPr>
          <a:xfrm>
            <a:off x="5596128" y="326440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회원 인증 · 기록 동기화 · 할 일 추출</a:t>
            </a:r>
            <a:endParaRPr lang="en-US" sz="2000" dirty="0"/>
          </a:p>
        </p:txBody>
      </p:sp>
      <p:sp>
        <p:nvSpPr>
          <p:cNvPr id="20" name="Shape 16"/>
          <p:cNvSpPr/>
          <p:nvPr/>
        </p:nvSpPr>
        <p:spPr>
          <a:xfrm>
            <a:off x="2523744" y="3118104"/>
            <a:ext cx="877824" cy="0"/>
          </a:xfrm>
          <a:prstGeom prst="line">
            <a:avLst/>
          </a:prstGeom>
          <a:noFill/>
          <a:ln w="20320">
            <a:solidFill>
              <a:srgbClr val="405394"/>
            </a:solidFill>
            <a:prstDash val="solid"/>
            <a:headEnd type="triangle"/>
            <a:tailEnd type="triangle"/>
          </a:ln>
        </p:spPr>
      </p:sp>
      <p:sp>
        <p:nvSpPr>
          <p:cNvPr id="21" name="Text 17"/>
          <p:cNvSpPr/>
          <p:nvPr/>
        </p:nvSpPr>
        <p:spPr>
          <a:xfrm>
            <a:off x="2532888" y="2761488"/>
            <a:ext cx="8595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HTTPS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2514600" y="3337560"/>
            <a:ext cx="896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요청 · 응답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4590288" y="3794760"/>
            <a:ext cx="0" cy="749808"/>
          </a:xfrm>
          <a:prstGeom prst="line">
            <a:avLst/>
          </a:prstGeom>
          <a:noFill/>
          <a:ln w="20320">
            <a:solidFill>
              <a:srgbClr val="405394"/>
            </a:solidFill>
            <a:prstDash val="solid"/>
            <a:headEnd type="triangle"/>
            <a:tailEnd type="triangle"/>
          </a:ln>
        </p:spPr>
      </p:sp>
      <p:sp>
        <p:nvSpPr>
          <p:cNvPr id="24" name="Text 20"/>
          <p:cNvSpPr/>
          <p:nvPr/>
        </p:nvSpPr>
        <p:spPr>
          <a:xfrm>
            <a:off x="4727448" y="4105656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· 텍스트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447288" y="4590288"/>
            <a:ext cx="2276856" cy="1225296"/>
          </a:xfrm>
          <a:prstGeom prst="roundRect">
            <a:avLst>
              <a:gd name="adj" fmla="val 149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342632" y="3794760"/>
            <a:ext cx="0" cy="749808"/>
          </a:xfrm>
          <a:prstGeom prst="line">
            <a:avLst/>
          </a:prstGeom>
          <a:noFill/>
          <a:ln w="20320">
            <a:solidFill>
              <a:srgbClr val="405394"/>
            </a:solidFill>
            <a:prstDash val="solid"/>
            <a:headEnd type="triangle"/>
            <a:tailEnd type="triangle"/>
          </a:ln>
        </p:spPr>
      </p:sp>
      <p:sp>
        <p:nvSpPr>
          <p:cNvPr id="27" name="Text 23"/>
          <p:cNvSpPr/>
          <p:nvPr/>
        </p:nvSpPr>
        <p:spPr>
          <a:xfrm>
            <a:off x="7479792" y="4105656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텍스트 · AI 결과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6199632" y="4590288"/>
            <a:ext cx="2276856" cy="1225296"/>
          </a:xfrm>
          <a:prstGeom prst="roundRect">
            <a:avLst>
              <a:gd name="adj" fmla="val 149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10094976" y="3794760"/>
            <a:ext cx="0" cy="749808"/>
          </a:xfrm>
          <a:prstGeom prst="line">
            <a:avLst/>
          </a:prstGeom>
          <a:noFill/>
          <a:ln w="20320">
            <a:solidFill>
              <a:srgbClr val="405394"/>
            </a:solidFill>
            <a:prstDash val="solid"/>
            <a:headEnd type="triangle"/>
            <a:tailEnd type="triangle"/>
          </a:ln>
        </p:spPr>
      </p:sp>
      <p:sp>
        <p:nvSpPr>
          <p:cNvPr id="30" name="Text 26"/>
          <p:cNvSpPr/>
          <p:nvPr/>
        </p:nvSpPr>
        <p:spPr>
          <a:xfrm>
            <a:off x="10232136" y="4105656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계정 · 기록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8951976" y="4590288"/>
            <a:ext cx="2276856" cy="1225296"/>
          </a:xfrm>
          <a:prstGeom prst="roundRect">
            <a:avLst>
              <a:gd name="adj" fmla="val 149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3630168" y="4754880"/>
            <a:ext cx="1911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AI</a:t>
            </a:r>
            <a:endParaRPr lang="en-US" sz="2300" dirty="0"/>
          </a:p>
        </p:txBody>
      </p:sp>
      <p:sp>
        <p:nvSpPr>
          <p:cNvPr id="33" name="Text 29"/>
          <p:cNvSpPr/>
          <p:nvPr/>
        </p:nvSpPr>
        <p:spPr>
          <a:xfrm>
            <a:off x="3630168" y="5221224"/>
            <a:ext cx="1911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NeMo-Speech.cpp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Python · MLX</a:t>
            </a:r>
            <a:endParaRPr lang="en-US" sz="1600" dirty="0"/>
          </a:p>
        </p:txBody>
      </p:sp>
      <p:sp>
        <p:nvSpPr>
          <p:cNvPr id="34" name="Text 30"/>
          <p:cNvSpPr/>
          <p:nvPr/>
        </p:nvSpPr>
        <p:spPr>
          <a:xfrm>
            <a:off x="6382512" y="4754880"/>
            <a:ext cx="1911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텍스트 AI</a:t>
            </a:r>
            <a:endParaRPr lang="en-US" sz="2300" dirty="0"/>
          </a:p>
        </p:txBody>
      </p:sp>
      <p:sp>
        <p:nvSpPr>
          <p:cNvPr id="35" name="Text 31"/>
          <p:cNvSpPr/>
          <p:nvPr/>
        </p:nvSpPr>
        <p:spPr>
          <a:xfrm>
            <a:off x="6382512" y="5312664"/>
            <a:ext cx="1911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Ollama API</a:t>
            </a:r>
            <a:endParaRPr lang="en-US" sz="2300" dirty="0"/>
          </a:p>
        </p:txBody>
      </p:sp>
      <p:pic>
        <p:nvPicPr>
          <p:cNvPr id="36" name="Image 1" descr="postgresq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1267" y="4718304"/>
            <a:ext cx="638274" cy="658368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9134856" y="546811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PostgreSQL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사용해 보기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31520" y="19202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“please prepare demo slides by friday”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731520" y="3291840"/>
            <a:ext cx="33832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3520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05840" y="40690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번역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4526280" y="3291840"/>
            <a:ext cx="33832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800600" y="3520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800600" y="40690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기록·요약</a:t>
            </a:r>
            <a:endParaRPr lang="en-US" sz="3000" dirty="0"/>
          </a:p>
        </p:txBody>
      </p:sp>
      <p:sp>
        <p:nvSpPr>
          <p:cNvPr id="13" name="Shape 10"/>
          <p:cNvSpPr/>
          <p:nvPr/>
        </p:nvSpPr>
        <p:spPr>
          <a:xfrm>
            <a:off x="8321040" y="3291840"/>
            <a:ext cx="33832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595360" y="3520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595360" y="40690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할 일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31520" y="6217920"/>
            <a:ext cx="1051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텍스트 입력으로 시연 · 실기기·마이크·청취 검증은 보류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 SD Gothic Ne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 SD Gothic Ne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SpeechBridge — 번역에서 할 일까지</dc:title>
  <dc:subject>학교 과제 · 앱 소개와 시연</dc:subject>
  <dc:creator>SpeechBridge</dc:creator>
  <cp:lastModifiedBy>SpeechBridge</cp:lastModifiedBy>
  <cp:revision>1</cp:revision>
  <dcterms:created xsi:type="dcterms:W3CDTF">2026-10-19T03:11:55Z</dcterms:created>
  <dcterms:modified xsi:type="dcterms:W3CDTF">2026-10-19T03:11:55Z</dcterms:modified>
</cp:coreProperties>
</file>