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SpeechBridge는 대화를 번역한 뒤 기록과 할 일로 연결하는 앱입니다. 음성 중심 UI이며 Android와 iOS 공통 구현입니다. 오늘 보여주는 화면은 실제 iOS 시뮬레이터에서 만든 가상 시연 기록입니다. 실제 마이크와 휴대전화 검증은 보류 상태임을 먼저 분명히 설명합니다.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회의나 일상 대화에서는 번역된 문장만큼 맥락과 후속 행동이 중요합니다. 번역 내용을 다른 메모 앱에 옮기고 할 일을 다시 작성하는 흐름을 줄이는 것이 목표입니다. 별도의 사용자 조사 수치나 시간 절감률을 주장하지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대화 화면의 중심은 큰 마이크 버튼입니다. 한국어·영어·일본어를 지원하며, 구현된 음성 파이프라인은 발화 완료 후 처리합니다. 키보드는 보조 입력입니다. 오른쪽 실제 결과는 영어 문장을 직접 입력한 뒤 로컬 AI가 번역한 사례이며 음성 인식 결과라고 설명하지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대화 종료 시 서버에 저장되는 작업이 제목·일상 또는 업무 분류·요약을 생성합니다. 작업 상태는 DB에 남기므로 서버가 재시작되어도 이어갈 수 있습니다. 화면의 demo reviewed는 자동 제목을 사람이 수정한 결과입니다. 이후 제목·분류·요약 편집은 사용자에게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만든 요청·결정 후보에는 참조 원문이 연결됩니다. 사용자가 근거를 읽고 내용을 검토한 뒤 할 일로 등록하거나 완료할 수 있습니다. 검토 표시는 상대방의 동의나 업무 수락을 뜻하지 않습니다. 준비된 수동 예시와 실제 AI 추출 항목을 구분해서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앱은 Kotlin Multiplatform과 Compose로 구현했습니다. 회원 인증된 HTTPS 요청을 Mac 서버가 받아 로컬 모델로 처리합니다. 번역은 TranslateGemma, 요약과 추출은 Gemma 계열이며 유료 API fallback은 없습니다. PostgreSQL에 계정별 원본을 저장하고, 기기에는 암호화된 미전송 변경만 남깁니다. 아래는 주요 흐름을 단순화한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연결이 끊기면 대기 내용만 Android 보안 저장소 또는 iOS Keychain에 보관합니다. 서버가 응답하면 대기 항목을 제거하고 mutation ID로 재전송 중복을 막습니다. 다중 기기 충돌은 무조건 덮어쓰지 않습니다. 백업은 검증 후 복원하며, 계정 삭제 이력을 다시 적용합니다. 실제 오프라인 UI에서 전송 대기 1건이 재연결 후 자동 저장 완료로 바뀌는 것을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시연 흐름을 직접 앱에서 조작하고, 최종 저장 결과를 PostgreSQL과 대조했습니다. 서버 테스트와 Android Host 및 iOS 시뮬레이터 회귀를 실행했습니다. 테스트 수가 제품 전체 커버리지나 실사용 정확도를 뜻하지는 않습니다. 음성은 합성 샘플로 파이프라인을 검사했고 실제 마이크, 휴대전화, 청취는 보류 상태입니다. 최신 수치는 저장소의 PRE_RELEASE 문서에서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시작은 프로젝트의 Demo.command입니다. Mac 서버가 실행되고 iOS 시뮬레이터는 시연 계정에 로그인되어 있습니다. 음성 시연이 보류된 자리에서는 키보드 보조 입력으로 표시한 문장을 입력합니다. 원문과 번역을 보여 준 뒤 종료하고 요약을 기다립니다. 할 일 추출 후 근거를 검토하고 완료합니다. 네트워크 장애 시 준비된 기록으로 설명하되 AI가 새로 처리한 것처럼 말하지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마무리입니다. SpeechBridge는 번역에서 멈추지 않고 대화의 맥락과 실행할 일을 연결합니다. 전체 소스, 시연 절차, 검증 결과와 배포 전 남은 외부 설정은 GitHub에 정리했습니다. 공개 출시와 실기기 검증이 끝났다고 주장하지 않습니다. 디자인 참고: Canva Pitch Deck 템플릿 목록과 미리캔버스 PPT 목록. 템플릿 자산을 내려받거나 복제하지 않고 앱 팔레트로 새 레이아웃을 작성했습니다.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VOICE → ACTION</a:t>
            </a:r>
            <a:endParaRPr lang="en-US" sz="1200" dirty="0"/>
          </a:p>
        </p:txBody>
      </p:sp>
      <p:sp>
        <p:nvSpPr>
          <p:cNvPr id="3" name="Text 1"/>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01</a:t>
            </a:r>
            <a:endParaRPr lang="en-US" sz="1000" dirty="0"/>
          </a:p>
        </p:txBody>
      </p:sp>
      <p:sp>
        <p:nvSpPr>
          <p:cNvPr id="4" name="Text 2"/>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6" name="Text 3"/>
          <p:cNvSpPr/>
          <p:nvPr/>
        </p:nvSpPr>
        <p:spPr>
          <a:xfrm>
            <a:off x="594360" y="1417320"/>
            <a:ext cx="7040880" cy="1600200"/>
          </a:xfrm>
          <a:prstGeom prst="rect">
            <a:avLst/>
          </a:prstGeom>
          <a:noFill/>
          <a:ln/>
        </p:spPr>
        <p:txBody>
          <a:bodyPr wrap="square" lIns="0" tIns="0" rIns="0" bIns="0" rtlCol="0" anchor="ctr"/>
          <a:lstStyle/>
          <a:p>
            <a:pPr indent="0" marL="0">
              <a:buNone/>
            </a:pPr>
            <a:r>
              <a:rPr lang="en-US" sz="4800" b="1" dirty="0">
                <a:solidFill>
                  <a:srgbClr val="242938"/>
                </a:solidFill>
                <a:latin typeface="Apple SD Gothic Neo" pitchFamily="34" charset="0"/>
                <a:ea typeface="Apple SD Gothic Neo" pitchFamily="34" charset="-122"/>
                <a:cs typeface="Apple SD Gothic Neo" pitchFamily="34" charset="-120"/>
              </a:rPr>
              <a:t>말한 순간부터</a:t>
            </a:r>
            <a:endParaRPr lang="en-US" sz="4800" dirty="0"/>
          </a:p>
          <a:p>
            <a:pPr indent="0" marL="0">
              <a:buNone/>
            </a:pPr>
            <a:r>
              <a:rPr lang="en-US" sz="4800" b="1" dirty="0">
                <a:solidFill>
                  <a:srgbClr val="242938"/>
                </a:solidFill>
                <a:latin typeface="Apple SD Gothic Neo" pitchFamily="34" charset="0"/>
                <a:ea typeface="Apple SD Gothic Neo" pitchFamily="34" charset="-122"/>
                <a:cs typeface="Apple SD Gothic Neo" pitchFamily="34" charset="-120"/>
              </a:rPr>
              <a:t>해야 할 일까지.</a:t>
            </a:r>
            <a:endParaRPr lang="en-US" sz="4800" dirty="0"/>
          </a:p>
        </p:txBody>
      </p:sp>
      <p:sp>
        <p:nvSpPr>
          <p:cNvPr id="7" name="Text 4"/>
          <p:cNvSpPr/>
          <p:nvPr/>
        </p:nvSpPr>
        <p:spPr>
          <a:xfrm>
            <a:off x="640080" y="3337560"/>
            <a:ext cx="6400800" cy="594360"/>
          </a:xfrm>
          <a:prstGeom prst="rect">
            <a:avLst/>
          </a:prstGeom>
          <a:noFill/>
          <a:ln/>
        </p:spPr>
        <p:txBody>
          <a:bodyPr wrap="square" lIns="0" tIns="0" rIns="0" bIns="0" rtlCol="0" anchor="ctr"/>
          <a:lstStyle/>
          <a:p>
            <a:pPr indent="0" marL="0">
              <a:buNone/>
            </a:pPr>
            <a:r>
              <a:rPr lang="en-US" sz="3000" b="1" dirty="0">
                <a:solidFill>
                  <a:srgbClr val="405394"/>
                </a:solidFill>
                <a:latin typeface="Apple SD Gothic Neo" pitchFamily="34" charset="0"/>
                <a:ea typeface="Apple SD Gothic Neo" pitchFamily="34" charset="-122"/>
                <a:cs typeface="Apple SD Gothic Neo" pitchFamily="34" charset="-120"/>
              </a:rPr>
              <a:t>SpeechBridge</a:t>
            </a:r>
            <a:endParaRPr lang="en-US" sz="3000" dirty="0"/>
          </a:p>
        </p:txBody>
      </p:sp>
      <p:sp>
        <p:nvSpPr>
          <p:cNvPr id="8" name="Text 5"/>
          <p:cNvSpPr/>
          <p:nvPr/>
        </p:nvSpPr>
        <p:spPr>
          <a:xfrm>
            <a:off x="640080" y="4114800"/>
            <a:ext cx="6400800" cy="914400"/>
          </a:xfrm>
          <a:prstGeom prst="rect">
            <a:avLst/>
          </a:prstGeom>
          <a:noFill/>
          <a:ln/>
        </p:spPr>
        <p:txBody>
          <a:bodyPr wrap="square" lIns="0" tIns="0" rIns="0" bIns="0" rtlCol="0" anchor="ctr"/>
          <a:lstStyle/>
          <a:p>
            <a:pPr indent="0" marL="0">
              <a:buNone/>
            </a:pPr>
            <a:r>
              <a:rPr lang="en-US" sz="2400" dirty="0">
                <a:solidFill>
                  <a:srgbClr val="626B80"/>
                </a:solidFill>
                <a:latin typeface="Apple SD Gothic Neo" pitchFamily="34" charset="0"/>
                <a:ea typeface="Apple SD Gothic Neo" pitchFamily="34" charset="-122"/>
                <a:cs typeface="Apple SD Gothic Neo" pitchFamily="34" charset="-120"/>
              </a:rPr>
              <a:t>번역 · 기록 · 요약 · 할 일을</a:t>
            </a:r>
            <a:endParaRPr lang="en-US" sz="2400" dirty="0"/>
          </a:p>
          <a:p>
            <a:pPr indent="0" marL="0">
              <a:buNone/>
            </a:pPr>
            <a:r>
              <a:rPr lang="en-US" sz="2400" dirty="0">
                <a:solidFill>
                  <a:srgbClr val="626B80"/>
                </a:solidFill>
                <a:latin typeface="Apple SD Gothic Neo" pitchFamily="34" charset="0"/>
                <a:ea typeface="Apple SD Gothic Neo" pitchFamily="34" charset="-122"/>
                <a:cs typeface="Apple SD Gothic Neo" pitchFamily="34" charset="-120"/>
              </a:rPr>
              <a:t>하나의 대화 흐름으로</a:t>
            </a:r>
            <a:endParaRPr lang="en-US" sz="2400" dirty="0"/>
          </a:p>
        </p:txBody>
      </p:sp>
      <p:pic>
        <p:nvPicPr>
          <p:cNvPr id="9" name="Image 0" descr="/Users/molla/UC/4-2/AI/middle_test/SpeechBridge/presentation/assets/talk.png">    </p:cNvPr>
          <p:cNvPicPr>
            <a:picLocks noChangeAspect="1"/>
          </p:cNvPicPr>
          <p:nvPr/>
        </p:nvPicPr>
        <p:blipFill>
          <a:blip r:embed="rId1"/>
          <a:stretch>
            <a:fillRect/>
          </a:stretch>
        </p:blipFill>
        <p:spPr>
          <a:xfrm>
            <a:off x="8458200" y="411480"/>
            <a:ext cx="2766907" cy="5897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WHY</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번역한 대화, 그다음은 어디에 남을까요?</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02</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Shape 4"/>
          <p:cNvSpPr/>
          <p:nvPr/>
        </p:nvSpPr>
        <p:spPr>
          <a:xfrm>
            <a:off x="594360" y="2103120"/>
            <a:ext cx="3474720" cy="2560320"/>
          </a:xfrm>
          <a:prstGeom prst="roundRect">
            <a:avLst>
              <a:gd name="adj" fmla="val 7857"/>
            </a:avLst>
          </a:prstGeom>
          <a:solidFill>
            <a:srgbClr val="FFFFFF"/>
          </a:solidFill>
          <a:ln w="12700">
            <a:solidFill>
              <a:srgbClr val="FFFFFF">
                <a:alpha val="0"/>
              </a:srgbClr>
            </a:solidFill>
            <a:prstDash val="solid"/>
          </a:ln>
        </p:spPr>
      </p:sp>
      <p:sp>
        <p:nvSpPr>
          <p:cNvPr id="8" name="Text 5"/>
          <p:cNvSpPr/>
          <p:nvPr/>
        </p:nvSpPr>
        <p:spPr>
          <a:xfrm>
            <a:off x="868680" y="2423160"/>
            <a:ext cx="274320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9" name="Text 6"/>
          <p:cNvSpPr/>
          <p:nvPr/>
        </p:nvSpPr>
        <p:spPr>
          <a:xfrm>
            <a:off x="868680" y="2999232"/>
            <a:ext cx="2743200" cy="594360"/>
          </a:xfrm>
          <a:prstGeom prst="rect">
            <a:avLst/>
          </a:prstGeom>
          <a:noFill/>
          <a:ln/>
        </p:spPr>
        <p:txBody>
          <a:bodyPr wrap="square" lIns="0" tIns="0" rIns="0" bIns="0" rtlCol="0" anchor="ctr"/>
          <a:lstStyle/>
          <a:p>
            <a:pPr indent="0" marL="0">
              <a:buNone/>
            </a:pPr>
            <a:r>
              <a:rPr lang="en-US" sz="3200" b="1" dirty="0">
                <a:solidFill>
                  <a:srgbClr val="242938"/>
                </a:solidFill>
                <a:latin typeface="Apple SD Gothic Neo" pitchFamily="34" charset="0"/>
                <a:ea typeface="Apple SD Gothic Neo" pitchFamily="34" charset="-122"/>
                <a:cs typeface="Apple SD Gothic Neo" pitchFamily="34" charset="-120"/>
              </a:rPr>
              <a:t>이해</a:t>
            </a:r>
            <a:endParaRPr lang="en-US" sz="3200" dirty="0"/>
          </a:p>
        </p:txBody>
      </p:sp>
      <p:sp>
        <p:nvSpPr>
          <p:cNvPr id="10" name="Text 7"/>
          <p:cNvSpPr/>
          <p:nvPr/>
        </p:nvSpPr>
        <p:spPr>
          <a:xfrm>
            <a:off x="868680" y="3840480"/>
            <a:ext cx="2926080" cy="411480"/>
          </a:xfrm>
          <a:prstGeom prst="rect">
            <a:avLst/>
          </a:prstGeom>
          <a:noFill/>
          <a:ln/>
        </p:spPr>
        <p:txBody>
          <a:bodyPr wrap="square" lIns="0" tIns="0" rIns="0" bIns="0" rtlCol="0" anchor="ctr"/>
          <a:lstStyle/>
          <a:p>
            <a:pPr indent="0" marL="0">
              <a:buNone/>
            </a:pPr>
            <a:r>
              <a:rPr lang="en-US" sz="1900" dirty="0">
                <a:solidFill>
                  <a:srgbClr val="626B80"/>
                </a:solidFill>
                <a:latin typeface="Apple SD Gothic Neo" pitchFamily="34" charset="0"/>
                <a:ea typeface="Apple SD Gothic Neo" pitchFamily="34" charset="-122"/>
                <a:cs typeface="Apple SD Gothic Neo" pitchFamily="34" charset="-120"/>
              </a:rPr>
              <a:t>상대방의 말을 번역</a:t>
            </a:r>
            <a:endParaRPr lang="en-US" sz="1900" dirty="0"/>
          </a:p>
        </p:txBody>
      </p:sp>
      <p:sp>
        <p:nvSpPr>
          <p:cNvPr id="11" name="Shape 8"/>
          <p:cNvSpPr/>
          <p:nvPr/>
        </p:nvSpPr>
        <p:spPr>
          <a:xfrm>
            <a:off x="4389120" y="2103120"/>
            <a:ext cx="3474720" cy="2560320"/>
          </a:xfrm>
          <a:prstGeom prst="roundRect">
            <a:avLst>
              <a:gd name="adj" fmla="val 7857"/>
            </a:avLst>
          </a:prstGeom>
          <a:solidFill>
            <a:srgbClr val="FFFFFF"/>
          </a:solidFill>
          <a:ln w="12700">
            <a:solidFill>
              <a:srgbClr val="FFFFFF">
                <a:alpha val="0"/>
              </a:srgbClr>
            </a:solidFill>
            <a:prstDash val="solid"/>
          </a:ln>
        </p:spPr>
      </p:sp>
      <p:sp>
        <p:nvSpPr>
          <p:cNvPr id="12" name="Text 9"/>
          <p:cNvSpPr/>
          <p:nvPr/>
        </p:nvSpPr>
        <p:spPr>
          <a:xfrm>
            <a:off x="4663440" y="2423160"/>
            <a:ext cx="274320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3" name="Text 10"/>
          <p:cNvSpPr/>
          <p:nvPr/>
        </p:nvSpPr>
        <p:spPr>
          <a:xfrm>
            <a:off x="4663440" y="2999232"/>
            <a:ext cx="2743200" cy="594360"/>
          </a:xfrm>
          <a:prstGeom prst="rect">
            <a:avLst/>
          </a:prstGeom>
          <a:noFill/>
          <a:ln/>
        </p:spPr>
        <p:txBody>
          <a:bodyPr wrap="square" lIns="0" tIns="0" rIns="0" bIns="0" rtlCol="0" anchor="ctr"/>
          <a:lstStyle/>
          <a:p>
            <a:pPr indent="0" marL="0">
              <a:buNone/>
            </a:pPr>
            <a:r>
              <a:rPr lang="en-US" sz="3200" b="1" dirty="0">
                <a:solidFill>
                  <a:srgbClr val="242938"/>
                </a:solidFill>
                <a:latin typeface="Apple SD Gothic Neo" pitchFamily="34" charset="0"/>
                <a:ea typeface="Apple SD Gothic Neo" pitchFamily="34" charset="-122"/>
                <a:cs typeface="Apple SD Gothic Neo" pitchFamily="34" charset="-120"/>
              </a:rPr>
              <a:t>보관</a:t>
            </a:r>
            <a:endParaRPr lang="en-US" sz="3200" dirty="0"/>
          </a:p>
        </p:txBody>
      </p:sp>
      <p:sp>
        <p:nvSpPr>
          <p:cNvPr id="14" name="Text 11"/>
          <p:cNvSpPr/>
          <p:nvPr/>
        </p:nvSpPr>
        <p:spPr>
          <a:xfrm>
            <a:off x="4663440" y="3840480"/>
            <a:ext cx="2926080" cy="411480"/>
          </a:xfrm>
          <a:prstGeom prst="rect">
            <a:avLst/>
          </a:prstGeom>
          <a:noFill/>
          <a:ln/>
        </p:spPr>
        <p:txBody>
          <a:bodyPr wrap="square" lIns="0" tIns="0" rIns="0" bIns="0" rtlCol="0" anchor="ctr"/>
          <a:lstStyle/>
          <a:p>
            <a:pPr indent="0" marL="0">
              <a:buNone/>
            </a:pPr>
            <a:r>
              <a:rPr lang="en-US" sz="1900" dirty="0">
                <a:solidFill>
                  <a:srgbClr val="626B80"/>
                </a:solidFill>
                <a:latin typeface="Apple SD Gothic Neo" pitchFamily="34" charset="0"/>
                <a:ea typeface="Apple SD Gothic Neo" pitchFamily="34" charset="-122"/>
                <a:cs typeface="Apple SD Gothic Neo" pitchFamily="34" charset="-120"/>
              </a:rPr>
              <a:t>내용과 맥락을 기록</a:t>
            </a:r>
            <a:endParaRPr lang="en-US" sz="1900" dirty="0"/>
          </a:p>
        </p:txBody>
      </p:sp>
      <p:sp>
        <p:nvSpPr>
          <p:cNvPr id="15" name="Shape 12"/>
          <p:cNvSpPr/>
          <p:nvPr/>
        </p:nvSpPr>
        <p:spPr>
          <a:xfrm>
            <a:off x="8183880" y="2103120"/>
            <a:ext cx="3474720" cy="2560320"/>
          </a:xfrm>
          <a:prstGeom prst="roundRect">
            <a:avLst>
              <a:gd name="adj" fmla="val 7857"/>
            </a:avLst>
          </a:prstGeom>
          <a:solidFill>
            <a:srgbClr val="FFFFFF"/>
          </a:solidFill>
          <a:ln w="12700">
            <a:solidFill>
              <a:srgbClr val="FFFFFF">
                <a:alpha val="0"/>
              </a:srgbClr>
            </a:solidFill>
            <a:prstDash val="solid"/>
          </a:ln>
        </p:spPr>
      </p:sp>
      <p:sp>
        <p:nvSpPr>
          <p:cNvPr id="16" name="Text 13"/>
          <p:cNvSpPr/>
          <p:nvPr/>
        </p:nvSpPr>
        <p:spPr>
          <a:xfrm>
            <a:off x="8458200" y="2423160"/>
            <a:ext cx="274320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7" name="Text 14"/>
          <p:cNvSpPr/>
          <p:nvPr/>
        </p:nvSpPr>
        <p:spPr>
          <a:xfrm>
            <a:off x="8458200" y="2999232"/>
            <a:ext cx="2743200" cy="594360"/>
          </a:xfrm>
          <a:prstGeom prst="rect">
            <a:avLst/>
          </a:prstGeom>
          <a:noFill/>
          <a:ln/>
        </p:spPr>
        <p:txBody>
          <a:bodyPr wrap="square" lIns="0" tIns="0" rIns="0" bIns="0" rtlCol="0" anchor="ctr"/>
          <a:lstStyle/>
          <a:p>
            <a:pPr indent="0" marL="0">
              <a:buNone/>
            </a:pPr>
            <a:r>
              <a:rPr lang="en-US" sz="3200" b="1" dirty="0">
                <a:solidFill>
                  <a:srgbClr val="242938"/>
                </a:solidFill>
                <a:latin typeface="Apple SD Gothic Neo" pitchFamily="34" charset="0"/>
                <a:ea typeface="Apple SD Gothic Neo" pitchFamily="34" charset="-122"/>
                <a:cs typeface="Apple SD Gothic Neo" pitchFamily="34" charset="-120"/>
              </a:rPr>
              <a:t>실행</a:t>
            </a:r>
            <a:endParaRPr lang="en-US" sz="3200" dirty="0"/>
          </a:p>
        </p:txBody>
      </p:sp>
      <p:sp>
        <p:nvSpPr>
          <p:cNvPr id="18" name="Text 15"/>
          <p:cNvSpPr/>
          <p:nvPr/>
        </p:nvSpPr>
        <p:spPr>
          <a:xfrm>
            <a:off x="8458200" y="3840480"/>
            <a:ext cx="2926080" cy="411480"/>
          </a:xfrm>
          <a:prstGeom prst="rect">
            <a:avLst/>
          </a:prstGeom>
          <a:noFill/>
          <a:ln/>
        </p:spPr>
        <p:txBody>
          <a:bodyPr wrap="square" lIns="0" tIns="0" rIns="0" bIns="0" rtlCol="0" anchor="ctr"/>
          <a:lstStyle/>
          <a:p>
            <a:pPr indent="0" marL="0">
              <a:buNone/>
            </a:pPr>
            <a:r>
              <a:rPr lang="en-US" sz="1900" dirty="0">
                <a:solidFill>
                  <a:srgbClr val="626B80"/>
                </a:solidFill>
                <a:latin typeface="Apple SD Gothic Neo" pitchFamily="34" charset="0"/>
                <a:ea typeface="Apple SD Gothic Neo" pitchFamily="34" charset="-122"/>
                <a:cs typeface="Apple SD Gothic Neo" pitchFamily="34" charset="-120"/>
              </a:rPr>
              <a:t>해야 할 일을 확인</a:t>
            </a:r>
            <a:endParaRPr lang="en-US" sz="1900" dirty="0"/>
          </a:p>
        </p:txBody>
      </p:sp>
      <p:sp>
        <p:nvSpPr>
          <p:cNvPr id="19" name="Text 16"/>
          <p:cNvSpPr/>
          <p:nvPr/>
        </p:nvSpPr>
        <p:spPr>
          <a:xfrm>
            <a:off x="640080" y="5303520"/>
            <a:ext cx="10058400" cy="548640"/>
          </a:xfrm>
          <a:prstGeom prst="rect">
            <a:avLst/>
          </a:prstGeom>
          <a:noFill/>
          <a:ln/>
        </p:spPr>
        <p:txBody>
          <a:bodyPr wrap="square" lIns="0" tIns="0" rIns="0" bIns="0" rtlCol="0" anchor="ctr"/>
          <a:lstStyle/>
          <a:p>
            <a:pPr indent="0" marL="0">
              <a:buNone/>
            </a:pPr>
            <a:r>
              <a:rPr lang="en-US" sz="3000" b="1" dirty="0">
                <a:solidFill>
                  <a:srgbClr val="405394"/>
                </a:solidFill>
                <a:latin typeface="Apple SD Gothic Neo" pitchFamily="34" charset="0"/>
                <a:ea typeface="Apple SD Gothic Neo" pitchFamily="34" charset="-122"/>
                <a:cs typeface="Apple SD Gothic Neo" pitchFamily="34" charset="-120"/>
              </a:rPr>
              <a:t>세 가지 흐름을, 한 앱 안에서.</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01 / TALK</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입력은 단순하게. 번역은 이어서.</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03</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Text 4"/>
          <p:cNvSpPr/>
          <p:nvPr/>
        </p:nvSpPr>
        <p:spPr>
          <a:xfrm>
            <a:off x="640080" y="192024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8" name="Text 5"/>
          <p:cNvSpPr/>
          <p:nvPr/>
        </p:nvSpPr>
        <p:spPr>
          <a:xfrm>
            <a:off x="1188720" y="1920240"/>
            <a:ext cx="5212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큰 마이크가 대화의 시작</a:t>
            </a:r>
            <a:endParaRPr lang="en-US" sz="2300" dirty="0"/>
          </a:p>
        </p:txBody>
      </p:sp>
      <p:sp>
        <p:nvSpPr>
          <p:cNvPr id="9" name="Text 6"/>
          <p:cNvSpPr/>
          <p:nvPr/>
        </p:nvSpPr>
        <p:spPr>
          <a:xfrm>
            <a:off x="1188720" y="2450592"/>
            <a:ext cx="5212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키보드는 보조 입력으로 배치</a:t>
            </a:r>
            <a:endParaRPr lang="en-US" sz="1700" dirty="0"/>
          </a:p>
        </p:txBody>
      </p:sp>
      <p:sp>
        <p:nvSpPr>
          <p:cNvPr id="10" name="Text 7"/>
          <p:cNvSpPr/>
          <p:nvPr/>
        </p:nvSpPr>
        <p:spPr>
          <a:xfrm>
            <a:off x="640080" y="333756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1" name="Text 8"/>
          <p:cNvSpPr/>
          <p:nvPr/>
        </p:nvSpPr>
        <p:spPr>
          <a:xfrm>
            <a:off x="1188720" y="3337560"/>
            <a:ext cx="5212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언어 선택과 맞바꾸기</a:t>
            </a:r>
            <a:endParaRPr lang="en-US" sz="2300" dirty="0"/>
          </a:p>
        </p:txBody>
      </p:sp>
      <p:sp>
        <p:nvSpPr>
          <p:cNvPr id="12" name="Text 9"/>
          <p:cNvSpPr/>
          <p:nvPr/>
        </p:nvSpPr>
        <p:spPr>
          <a:xfrm>
            <a:off x="1188720" y="3867912"/>
            <a:ext cx="5212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원하는 언어쌍을 바로 전환</a:t>
            </a:r>
            <a:endParaRPr lang="en-US" sz="1700" dirty="0"/>
          </a:p>
        </p:txBody>
      </p:sp>
      <p:sp>
        <p:nvSpPr>
          <p:cNvPr id="13" name="Text 10"/>
          <p:cNvSpPr/>
          <p:nvPr/>
        </p:nvSpPr>
        <p:spPr>
          <a:xfrm>
            <a:off x="640080" y="475488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4" name="Text 11"/>
          <p:cNvSpPr/>
          <p:nvPr/>
        </p:nvSpPr>
        <p:spPr>
          <a:xfrm>
            <a:off x="1188720" y="4754880"/>
            <a:ext cx="5212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기록과 번역이 함께</a:t>
            </a:r>
            <a:endParaRPr lang="en-US" sz="2300" dirty="0"/>
          </a:p>
        </p:txBody>
      </p:sp>
      <p:sp>
        <p:nvSpPr>
          <p:cNvPr id="15" name="Text 12"/>
          <p:cNvSpPr/>
          <p:nvPr/>
        </p:nvSpPr>
        <p:spPr>
          <a:xfrm>
            <a:off x="1188720" y="5285232"/>
            <a:ext cx="5212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원문을 유지하고 번역을 나란히 확인</a:t>
            </a:r>
            <a:endParaRPr lang="en-US" sz="1700" dirty="0"/>
          </a:p>
        </p:txBody>
      </p:sp>
      <p:pic>
        <p:nvPicPr>
          <p:cNvPr id="16" name="Image 0" descr="/Users/molla/UC/4-2/AI/middle_test/SpeechBridge/presentation/assets/translation.png">    </p:cNvPr>
          <p:cNvPicPr>
            <a:picLocks noChangeAspect="1"/>
          </p:cNvPicPr>
          <p:nvPr/>
        </p:nvPicPr>
        <p:blipFill>
          <a:blip r:embed="rId1"/>
          <a:stretch>
            <a:fillRect/>
          </a:stretch>
        </p:blipFill>
        <p:spPr>
          <a:xfrm>
            <a:off x="8321040" y="914400"/>
            <a:ext cx="2530969" cy="53949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02 / RECORD</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대화가 끝나면, 처음 한 번 AI가 정리합니다.</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04</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pic>
        <p:nvPicPr>
          <p:cNvPr id="7" name="Image 0" descr="/Users/molla/UC/4-2/AI/middle_test/SpeechBridge/presentation/assets/history.png">    </p:cNvPr>
          <p:cNvPicPr>
            <a:picLocks noChangeAspect="1"/>
          </p:cNvPicPr>
          <p:nvPr/>
        </p:nvPicPr>
        <p:blipFill>
          <a:blip r:embed="rId1"/>
          <a:stretch>
            <a:fillRect/>
          </a:stretch>
        </p:blipFill>
        <p:spPr>
          <a:xfrm>
            <a:off x="640080" y="1737360"/>
            <a:ext cx="2123440" cy="4526280"/>
          </a:xfrm>
          <a:prstGeom prst="rect">
            <a:avLst/>
          </a:prstGeom>
        </p:spPr>
      </p:pic>
      <p:pic>
        <p:nvPicPr>
          <p:cNvPr id="8" name="Image 1" descr="/Users/molla/UC/4-2/AI/middle_test/SpeechBridge/presentation/assets/summary.png">    </p:cNvPr>
          <p:cNvPicPr>
            <a:picLocks noChangeAspect="1"/>
          </p:cNvPicPr>
          <p:nvPr/>
        </p:nvPicPr>
        <p:blipFill>
          <a:blip r:embed="rId2"/>
          <a:stretch>
            <a:fillRect/>
          </a:stretch>
        </p:blipFill>
        <p:spPr>
          <a:xfrm>
            <a:off x="3154680" y="1737360"/>
            <a:ext cx="2123440" cy="4526280"/>
          </a:xfrm>
          <a:prstGeom prst="rect">
            <a:avLst/>
          </a:prstGeom>
        </p:spPr>
      </p:pic>
      <p:sp>
        <p:nvSpPr>
          <p:cNvPr id="9" name="Text 4"/>
          <p:cNvSpPr/>
          <p:nvPr/>
        </p:nvSpPr>
        <p:spPr>
          <a:xfrm>
            <a:off x="5989320" y="214884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10" name="Text 5"/>
          <p:cNvSpPr/>
          <p:nvPr/>
        </p:nvSpPr>
        <p:spPr>
          <a:xfrm>
            <a:off x="6537960" y="2148840"/>
            <a:ext cx="48463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짧은 제목과 요약</a:t>
            </a:r>
            <a:endParaRPr lang="en-US" sz="2300" dirty="0"/>
          </a:p>
        </p:txBody>
      </p:sp>
      <p:sp>
        <p:nvSpPr>
          <p:cNvPr id="11" name="Text 6"/>
          <p:cNvSpPr/>
          <p:nvPr/>
        </p:nvSpPr>
        <p:spPr>
          <a:xfrm>
            <a:off x="6537960" y="2679192"/>
            <a:ext cx="484632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다시 읽을 때 필요한 맥락부터</a:t>
            </a:r>
            <a:endParaRPr lang="en-US" sz="1700" dirty="0"/>
          </a:p>
        </p:txBody>
      </p:sp>
      <p:sp>
        <p:nvSpPr>
          <p:cNvPr id="12" name="Text 7"/>
          <p:cNvSpPr/>
          <p:nvPr/>
        </p:nvSpPr>
        <p:spPr>
          <a:xfrm>
            <a:off x="5989320" y="356616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3" name="Text 8"/>
          <p:cNvSpPr/>
          <p:nvPr/>
        </p:nvSpPr>
        <p:spPr>
          <a:xfrm>
            <a:off x="6537960" y="3566160"/>
            <a:ext cx="48463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일상 / 업무 / 업무 폴더</a:t>
            </a:r>
            <a:endParaRPr lang="en-US" sz="2300" dirty="0"/>
          </a:p>
        </p:txBody>
      </p:sp>
      <p:sp>
        <p:nvSpPr>
          <p:cNvPr id="14" name="Text 9"/>
          <p:cNvSpPr/>
          <p:nvPr/>
        </p:nvSpPr>
        <p:spPr>
          <a:xfrm>
            <a:off x="6537960" y="4096512"/>
            <a:ext cx="484632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필요한 기록을 빠르게 좁히기</a:t>
            </a:r>
            <a:endParaRPr lang="en-US" sz="1700" dirty="0"/>
          </a:p>
        </p:txBody>
      </p:sp>
      <p:sp>
        <p:nvSpPr>
          <p:cNvPr id="15" name="Text 10"/>
          <p:cNvSpPr/>
          <p:nvPr/>
        </p:nvSpPr>
        <p:spPr>
          <a:xfrm>
            <a:off x="5989320" y="498348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6" name="Text 11"/>
          <p:cNvSpPr/>
          <p:nvPr/>
        </p:nvSpPr>
        <p:spPr>
          <a:xfrm>
            <a:off x="6537960" y="4983480"/>
            <a:ext cx="48463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이후 편집은 사용자에게</a:t>
            </a:r>
            <a:endParaRPr lang="en-US" sz="2300" dirty="0"/>
          </a:p>
        </p:txBody>
      </p:sp>
      <p:sp>
        <p:nvSpPr>
          <p:cNvPr id="17" name="Text 12"/>
          <p:cNvSpPr/>
          <p:nvPr/>
        </p:nvSpPr>
        <p:spPr>
          <a:xfrm>
            <a:off x="6537960" y="5513832"/>
            <a:ext cx="484632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AI가 수동 수정 내용을 덮어쓰지 않음</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03 / ACTION</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AI가 찾고, 사용자가 근거를 확인합니다.</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05</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pic>
        <p:nvPicPr>
          <p:cNvPr id="7" name="Image 0" descr="/Users/molla/UC/4-2/AI/middle_test/SpeechBridge/presentation/assets/evidence.png">    </p:cNvPr>
          <p:cNvPicPr>
            <a:picLocks noChangeAspect="1"/>
          </p:cNvPicPr>
          <p:nvPr/>
        </p:nvPicPr>
        <p:blipFill>
          <a:blip r:embed="rId1"/>
          <a:stretch>
            <a:fillRect/>
          </a:stretch>
        </p:blipFill>
        <p:spPr>
          <a:xfrm>
            <a:off x="640080" y="1691640"/>
            <a:ext cx="2144889" cy="4572000"/>
          </a:xfrm>
          <a:prstGeom prst="rect">
            <a:avLst/>
          </a:prstGeom>
        </p:spPr>
      </p:pic>
      <p:pic>
        <p:nvPicPr>
          <p:cNvPr id="8" name="Image 1" descr="/Users/molla/UC/4-2/AI/middle_test/SpeechBridge/presentation/assets/tasks.png">    </p:cNvPr>
          <p:cNvPicPr>
            <a:picLocks noChangeAspect="1"/>
          </p:cNvPicPr>
          <p:nvPr/>
        </p:nvPicPr>
        <p:blipFill>
          <a:blip r:embed="rId2"/>
          <a:stretch>
            <a:fillRect/>
          </a:stretch>
        </p:blipFill>
        <p:spPr>
          <a:xfrm>
            <a:off x="3200400" y="1691640"/>
            <a:ext cx="2144889" cy="4572000"/>
          </a:xfrm>
          <a:prstGeom prst="rect">
            <a:avLst/>
          </a:prstGeom>
        </p:spPr>
      </p:pic>
      <p:sp>
        <p:nvSpPr>
          <p:cNvPr id="9" name="Text 4"/>
          <p:cNvSpPr/>
          <p:nvPr/>
        </p:nvSpPr>
        <p:spPr>
          <a:xfrm>
            <a:off x="6035040" y="214884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10" name="Text 5"/>
          <p:cNvSpPr/>
          <p:nvPr/>
        </p:nvSpPr>
        <p:spPr>
          <a:xfrm>
            <a:off x="6583680" y="2148840"/>
            <a:ext cx="47548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원문 근거 확인</a:t>
            </a:r>
            <a:endParaRPr lang="en-US" sz="2300" dirty="0"/>
          </a:p>
        </p:txBody>
      </p:sp>
      <p:sp>
        <p:nvSpPr>
          <p:cNvPr id="11" name="Text 6"/>
          <p:cNvSpPr/>
          <p:nvPr/>
        </p:nvSpPr>
        <p:spPr>
          <a:xfrm>
            <a:off x="6583680" y="2679192"/>
            <a:ext cx="47548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누가 동의했다고 임의로 판단하지 않기</a:t>
            </a:r>
            <a:endParaRPr lang="en-US" sz="1700" dirty="0"/>
          </a:p>
        </p:txBody>
      </p:sp>
      <p:sp>
        <p:nvSpPr>
          <p:cNvPr id="12" name="Text 7"/>
          <p:cNvSpPr/>
          <p:nvPr/>
        </p:nvSpPr>
        <p:spPr>
          <a:xfrm>
            <a:off x="6035040" y="361188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3" name="Text 8"/>
          <p:cNvSpPr/>
          <p:nvPr/>
        </p:nvSpPr>
        <p:spPr>
          <a:xfrm>
            <a:off x="6583680" y="3611880"/>
            <a:ext cx="47548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검토 → 등록 → 완료</a:t>
            </a:r>
            <a:endParaRPr lang="en-US" sz="2300" dirty="0"/>
          </a:p>
        </p:txBody>
      </p:sp>
      <p:sp>
        <p:nvSpPr>
          <p:cNvPr id="14" name="Text 9"/>
          <p:cNvSpPr/>
          <p:nvPr/>
        </p:nvSpPr>
        <p:spPr>
          <a:xfrm>
            <a:off x="6583680" y="4142232"/>
            <a:ext cx="47548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후보와 실제 할 일을 구분</a:t>
            </a:r>
            <a:endParaRPr lang="en-US" sz="1700" dirty="0"/>
          </a:p>
        </p:txBody>
      </p:sp>
      <p:sp>
        <p:nvSpPr>
          <p:cNvPr id="15" name="Text 10"/>
          <p:cNvSpPr/>
          <p:nvPr/>
        </p:nvSpPr>
        <p:spPr>
          <a:xfrm>
            <a:off x="6035040" y="502920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6" name="Text 11"/>
          <p:cNvSpPr/>
          <p:nvPr/>
        </p:nvSpPr>
        <p:spPr>
          <a:xfrm>
            <a:off x="6583680" y="5029200"/>
            <a:ext cx="47548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기록으로 돌아가기</a:t>
            </a:r>
            <a:endParaRPr lang="en-US" sz="2300" dirty="0"/>
          </a:p>
        </p:txBody>
      </p:sp>
      <p:sp>
        <p:nvSpPr>
          <p:cNvPr id="17" name="Text 12"/>
          <p:cNvSpPr/>
          <p:nvPr/>
        </p:nvSpPr>
        <p:spPr>
          <a:xfrm>
            <a:off x="6583680" y="5559552"/>
            <a:ext cx="47548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할 일과 대화의 연결 유지</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ARCHITECTURE</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AI는 Mac에서, 사용자 데이터는 PostgreSQL에.</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06</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Shape 4"/>
          <p:cNvSpPr/>
          <p:nvPr/>
        </p:nvSpPr>
        <p:spPr>
          <a:xfrm>
            <a:off x="640080" y="2331720"/>
            <a:ext cx="3337560" cy="2057400"/>
          </a:xfrm>
          <a:prstGeom prst="roundRect">
            <a:avLst>
              <a:gd name="adj" fmla="val 9778"/>
            </a:avLst>
          </a:prstGeom>
          <a:solidFill>
            <a:srgbClr val="FFFFFF"/>
          </a:solidFill>
          <a:ln w="12700">
            <a:solidFill>
              <a:srgbClr val="FFFFFF">
                <a:alpha val="0"/>
              </a:srgbClr>
            </a:solidFill>
            <a:prstDash val="solid"/>
          </a:ln>
        </p:spPr>
      </p:sp>
      <p:sp>
        <p:nvSpPr>
          <p:cNvPr id="8" name="Text 5"/>
          <p:cNvSpPr/>
          <p:nvPr/>
        </p:nvSpPr>
        <p:spPr>
          <a:xfrm>
            <a:off x="914400" y="2697480"/>
            <a:ext cx="2788920" cy="457200"/>
          </a:xfrm>
          <a:prstGeom prst="rect">
            <a:avLst/>
          </a:prstGeom>
          <a:noFill/>
          <a:ln/>
        </p:spPr>
        <p:txBody>
          <a:bodyPr wrap="square" lIns="0" tIns="0" rIns="0" bIns="0" rtlCol="0" anchor="ctr"/>
          <a:lstStyle/>
          <a:p>
            <a:pPr indent="0" marL="0">
              <a:buNone/>
            </a:pPr>
            <a:r>
              <a:rPr lang="en-US" sz="2600" b="1" dirty="0">
                <a:solidFill>
                  <a:srgbClr val="405394"/>
                </a:solidFill>
                <a:latin typeface="Apple SD Gothic Neo" pitchFamily="34" charset="0"/>
                <a:ea typeface="Apple SD Gothic Neo" pitchFamily="34" charset="-122"/>
                <a:cs typeface="Apple SD Gothic Neo" pitchFamily="34" charset="-120"/>
              </a:rPr>
              <a:t>모바일 앱</a:t>
            </a:r>
            <a:endParaRPr lang="en-US" sz="2600" dirty="0"/>
          </a:p>
        </p:txBody>
      </p:sp>
      <p:sp>
        <p:nvSpPr>
          <p:cNvPr id="9" name="Text 6"/>
          <p:cNvSpPr/>
          <p:nvPr/>
        </p:nvSpPr>
        <p:spPr>
          <a:xfrm>
            <a:off x="914400" y="3364992"/>
            <a:ext cx="2788920" cy="731520"/>
          </a:xfrm>
          <a:prstGeom prst="rect">
            <a:avLst/>
          </a:prstGeom>
          <a:noFill/>
          <a:ln/>
        </p:spPr>
        <p:txBody>
          <a:bodyPr wrap="square" lIns="0" tIns="0" rIns="0" bIns="0" rtlCol="0" anchor="ctr"/>
          <a:lstStyle/>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Android · iOS</a:t>
            </a:r>
            <a:endParaRPr lang="en-US" sz="2000" dirty="0"/>
          </a:p>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음성 중심 Compose UI</a:t>
            </a:r>
            <a:endParaRPr lang="en-US" sz="2000" dirty="0"/>
          </a:p>
        </p:txBody>
      </p:sp>
      <p:sp>
        <p:nvSpPr>
          <p:cNvPr id="10" name="Text 7"/>
          <p:cNvSpPr/>
          <p:nvPr/>
        </p:nvSpPr>
        <p:spPr>
          <a:xfrm>
            <a:off x="4005072" y="3017520"/>
            <a:ext cx="411480" cy="457200"/>
          </a:xfrm>
          <a:prstGeom prst="rect">
            <a:avLst/>
          </a:prstGeom>
          <a:noFill/>
          <a:ln/>
        </p:spPr>
        <p:txBody>
          <a:bodyPr wrap="square" lIns="0" tIns="0" rIns="0" bIns="0" rtlCol="0" anchor="ctr"/>
          <a:lstStyle/>
          <a:p>
            <a:pPr indent="0" marL="0">
              <a:buNone/>
            </a:pPr>
            <a:r>
              <a:rPr lang="en-US" sz="2600" b="1" dirty="0">
                <a:solidFill>
                  <a:srgbClr val="405394"/>
                </a:solidFill>
                <a:latin typeface="Apple SD Gothic Neo" pitchFamily="34" charset="0"/>
                <a:ea typeface="Apple SD Gothic Neo" pitchFamily="34" charset="-122"/>
                <a:cs typeface="Apple SD Gothic Neo" pitchFamily="34" charset="-120"/>
              </a:rPr>
              <a:t>→</a:t>
            </a:r>
            <a:endParaRPr lang="en-US" sz="2600" dirty="0"/>
          </a:p>
        </p:txBody>
      </p:sp>
      <p:sp>
        <p:nvSpPr>
          <p:cNvPr id="11" name="Shape 8"/>
          <p:cNvSpPr/>
          <p:nvPr/>
        </p:nvSpPr>
        <p:spPr>
          <a:xfrm>
            <a:off x="4434840" y="2331720"/>
            <a:ext cx="3337560" cy="2057400"/>
          </a:xfrm>
          <a:prstGeom prst="roundRect">
            <a:avLst>
              <a:gd name="adj" fmla="val 9778"/>
            </a:avLst>
          </a:prstGeom>
          <a:solidFill>
            <a:srgbClr val="DFE5FF"/>
          </a:solidFill>
          <a:ln w="12700">
            <a:solidFill>
              <a:srgbClr val="DFE5FF">
                <a:alpha val="0"/>
              </a:srgbClr>
            </a:solidFill>
            <a:prstDash val="solid"/>
          </a:ln>
        </p:spPr>
      </p:sp>
      <p:sp>
        <p:nvSpPr>
          <p:cNvPr id="12" name="Text 9"/>
          <p:cNvSpPr/>
          <p:nvPr/>
        </p:nvSpPr>
        <p:spPr>
          <a:xfrm>
            <a:off x="4709160" y="2697480"/>
            <a:ext cx="2788920" cy="457200"/>
          </a:xfrm>
          <a:prstGeom prst="rect">
            <a:avLst/>
          </a:prstGeom>
          <a:noFill/>
          <a:ln/>
        </p:spPr>
        <p:txBody>
          <a:bodyPr wrap="square" lIns="0" tIns="0" rIns="0" bIns="0" rtlCol="0" anchor="ctr"/>
          <a:lstStyle/>
          <a:p>
            <a:pPr indent="0" marL="0">
              <a:buNone/>
            </a:pPr>
            <a:r>
              <a:rPr lang="en-US" sz="2600" b="1" dirty="0">
                <a:solidFill>
                  <a:srgbClr val="405394"/>
                </a:solidFill>
                <a:latin typeface="Apple SD Gothic Neo" pitchFamily="34" charset="0"/>
                <a:ea typeface="Apple SD Gothic Neo" pitchFamily="34" charset="-122"/>
                <a:cs typeface="Apple SD Gothic Neo" pitchFamily="34" charset="-120"/>
              </a:rPr>
              <a:t>Mac 서버</a:t>
            </a:r>
            <a:endParaRPr lang="en-US" sz="2600" dirty="0"/>
          </a:p>
        </p:txBody>
      </p:sp>
      <p:sp>
        <p:nvSpPr>
          <p:cNvPr id="13" name="Text 10"/>
          <p:cNvSpPr/>
          <p:nvPr/>
        </p:nvSpPr>
        <p:spPr>
          <a:xfrm>
            <a:off x="4709160" y="3364992"/>
            <a:ext cx="2788920" cy="731520"/>
          </a:xfrm>
          <a:prstGeom prst="rect">
            <a:avLst/>
          </a:prstGeom>
          <a:noFill/>
          <a:ln/>
        </p:spPr>
        <p:txBody>
          <a:bodyPr wrap="square" lIns="0" tIns="0" rIns="0" bIns="0" rtlCol="0" anchor="ctr"/>
          <a:lstStyle/>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회원 API · 로컬 AI</a:t>
            </a:r>
            <a:endParaRPr lang="en-US" sz="2000" dirty="0"/>
          </a:p>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STT / 번역 / 요약 / TTS</a:t>
            </a:r>
            <a:endParaRPr lang="en-US" sz="2000" dirty="0"/>
          </a:p>
        </p:txBody>
      </p:sp>
      <p:sp>
        <p:nvSpPr>
          <p:cNvPr id="14" name="Text 11"/>
          <p:cNvSpPr/>
          <p:nvPr/>
        </p:nvSpPr>
        <p:spPr>
          <a:xfrm>
            <a:off x="7799832" y="3017520"/>
            <a:ext cx="411480" cy="457200"/>
          </a:xfrm>
          <a:prstGeom prst="rect">
            <a:avLst/>
          </a:prstGeom>
          <a:noFill/>
          <a:ln/>
        </p:spPr>
        <p:txBody>
          <a:bodyPr wrap="square" lIns="0" tIns="0" rIns="0" bIns="0" rtlCol="0" anchor="ctr"/>
          <a:lstStyle/>
          <a:p>
            <a:pPr indent="0" marL="0">
              <a:buNone/>
            </a:pPr>
            <a:r>
              <a:rPr lang="en-US" sz="2600" b="1" dirty="0">
                <a:solidFill>
                  <a:srgbClr val="405394"/>
                </a:solidFill>
                <a:latin typeface="Apple SD Gothic Neo" pitchFamily="34" charset="0"/>
                <a:ea typeface="Apple SD Gothic Neo" pitchFamily="34" charset="-122"/>
                <a:cs typeface="Apple SD Gothic Neo" pitchFamily="34" charset="-120"/>
              </a:rPr>
              <a:t>→</a:t>
            </a:r>
            <a:endParaRPr lang="en-US" sz="2600" dirty="0"/>
          </a:p>
        </p:txBody>
      </p:sp>
      <p:sp>
        <p:nvSpPr>
          <p:cNvPr id="15" name="Shape 12"/>
          <p:cNvSpPr/>
          <p:nvPr/>
        </p:nvSpPr>
        <p:spPr>
          <a:xfrm>
            <a:off x="8229600" y="2331720"/>
            <a:ext cx="3337560" cy="2057400"/>
          </a:xfrm>
          <a:prstGeom prst="roundRect">
            <a:avLst>
              <a:gd name="adj" fmla="val 9778"/>
            </a:avLst>
          </a:prstGeom>
          <a:solidFill>
            <a:srgbClr val="FFFFFF"/>
          </a:solidFill>
          <a:ln w="12700">
            <a:solidFill>
              <a:srgbClr val="FFFFFF">
                <a:alpha val="0"/>
              </a:srgbClr>
            </a:solidFill>
            <a:prstDash val="solid"/>
          </a:ln>
        </p:spPr>
      </p:sp>
      <p:sp>
        <p:nvSpPr>
          <p:cNvPr id="16" name="Text 13"/>
          <p:cNvSpPr/>
          <p:nvPr/>
        </p:nvSpPr>
        <p:spPr>
          <a:xfrm>
            <a:off x="8503920" y="2697480"/>
            <a:ext cx="2788920" cy="457200"/>
          </a:xfrm>
          <a:prstGeom prst="rect">
            <a:avLst/>
          </a:prstGeom>
          <a:noFill/>
          <a:ln/>
        </p:spPr>
        <p:txBody>
          <a:bodyPr wrap="square" lIns="0" tIns="0" rIns="0" bIns="0" rtlCol="0" anchor="ctr"/>
          <a:lstStyle/>
          <a:p>
            <a:pPr indent="0" marL="0">
              <a:buNone/>
            </a:pPr>
            <a:r>
              <a:rPr lang="en-US" sz="2600" b="1" dirty="0">
                <a:solidFill>
                  <a:srgbClr val="405394"/>
                </a:solidFill>
                <a:latin typeface="Apple SD Gothic Neo" pitchFamily="34" charset="0"/>
                <a:ea typeface="Apple SD Gothic Neo" pitchFamily="34" charset="-122"/>
                <a:cs typeface="Apple SD Gothic Neo" pitchFamily="34" charset="-120"/>
              </a:rPr>
              <a:t>PostgreSQL</a:t>
            </a:r>
            <a:endParaRPr lang="en-US" sz="2600" dirty="0"/>
          </a:p>
        </p:txBody>
      </p:sp>
      <p:sp>
        <p:nvSpPr>
          <p:cNvPr id="17" name="Text 14"/>
          <p:cNvSpPr/>
          <p:nvPr/>
        </p:nvSpPr>
        <p:spPr>
          <a:xfrm>
            <a:off x="8503920" y="3364992"/>
            <a:ext cx="2788920" cy="731520"/>
          </a:xfrm>
          <a:prstGeom prst="rect">
            <a:avLst/>
          </a:prstGeom>
          <a:noFill/>
          <a:ln/>
        </p:spPr>
        <p:txBody>
          <a:bodyPr wrap="square" lIns="0" tIns="0" rIns="0" bIns="0" rtlCol="0" anchor="ctr"/>
          <a:lstStyle/>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계정별 기록 원본</a:t>
            </a:r>
            <a:endParaRPr lang="en-US" sz="2000" dirty="0"/>
          </a:p>
          <a:p>
            <a:pPr indent="0" marL="0">
              <a:buNone/>
            </a:pPr>
            <a:r>
              <a:rPr lang="en-US" sz="2000" dirty="0">
                <a:solidFill>
                  <a:srgbClr val="242938"/>
                </a:solidFill>
                <a:latin typeface="Apple SD Gothic Neo" pitchFamily="34" charset="0"/>
                <a:ea typeface="Apple SD Gothic Neo" pitchFamily="34" charset="-122"/>
                <a:cs typeface="Apple SD Gothic Neo" pitchFamily="34" charset="-120"/>
              </a:rPr>
              <a:t>분류 · 할 일 · 설정</a:t>
            </a:r>
            <a:endParaRPr lang="en-US" sz="2000" dirty="0"/>
          </a:p>
        </p:txBody>
      </p:sp>
      <p:sp>
        <p:nvSpPr>
          <p:cNvPr id="18" name="Text 15"/>
          <p:cNvSpPr/>
          <p:nvPr/>
        </p:nvSpPr>
        <p:spPr>
          <a:xfrm>
            <a:off x="777240" y="5166360"/>
            <a:ext cx="10607040" cy="548640"/>
          </a:xfrm>
          <a:prstGeom prst="rect">
            <a:avLst/>
          </a:prstGeom>
          <a:noFill/>
          <a:ln/>
        </p:spPr>
        <p:txBody>
          <a:bodyPr wrap="square" lIns="0" tIns="0" rIns="0" bIns="0" rtlCol="0" anchor="ctr"/>
          <a:lstStyle/>
          <a:p>
            <a:pPr indent="0" marL="0">
              <a:buNone/>
            </a:pPr>
            <a:r>
              <a:rPr lang="en-US" sz="2400" b="1" dirty="0">
                <a:solidFill>
                  <a:srgbClr val="405394"/>
                </a:solidFill>
                <a:latin typeface="Apple SD Gothic Neo" pitchFamily="34" charset="0"/>
                <a:ea typeface="Apple SD Gothic Neo" pitchFamily="34" charset="-122"/>
                <a:cs typeface="Apple SD Gothic Neo" pitchFamily="34" charset="-120"/>
              </a:rPr>
              <a:t>HTTPS  /  개별 회원 인증  /  계정별 데이터 격리</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DATA &amp; RECOVERY</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연결이 끊겨도, 변경 내용을 잃지 않도록.</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07</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Text 4"/>
          <p:cNvSpPr/>
          <p:nvPr/>
        </p:nvSpPr>
        <p:spPr>
          <a:xfrm>
            <a:off x="731520" y="201168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01</a:t>
            </a:r>
            <a:endParaRPr lang="en-US" sz="1600" dirty="0"/>
          </a:p>
        </p:txBody>
      </p:sp>
      <p:sp>
        <p:nvSpPr>
          <p:cNvPr id="8" name="Text 5"/>
          <p:cNvSpPr/>
          <p:nvPr/>
        </p:nvSpPr>
        <p:spPr>
          <a:xfrm>
            <a:off x="1280160" y="2011680"/>
            <a:ext cx="9784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서버가 원본</a:t>
            </a:r>
            <a:endParaRPr lang="en-US" sz="2300" dirty="0"/>
          </a:p>
        </p:txBody>
      </p:sp>
      <p:sp>
        <p:nvSpPr>
          <p:cNvPr id="9" name="Text 6"/>
          <p:cNvSpPr/>
          <p:nvPr/>
        </p:nvSpPr>
        <p:spPr>
          <a:xfrm>
            <a:off x="1280160" y="2542032"/>
            <a:ext cx="9784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기기에는 암호화된 전송 대기만</a:t>
            </a:r>
            <a:endParaRPr lang="en-US" sz="1700" dirty="0"/>
          </a:p>
        </p:txBody>
      </p:sp>
      <p:sp>
        <p:nvSpPr>
          <p:cNvPr id="10" name="Text 7"/>
          <p:cNvSpPr/>
          <p:nvPr/>
        </p:nvSpPr>
        <p:spPr>
          <a:xfrm>
            <a:off x="731520" y="342900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02</a:t>
            </a:r>
            <a:endParaRPr lang="en-US" sz="1600" dirty="0"/>
          </a:p>
        </p:txBody>
      </p:sp>
      <p:sp>
        <p:nvSpPr>
          <p:cNvPr id="11" name="Text 8"/>
          <p:cNvSpPr/>
          <p:nvPr/>
        </p:nvSpPr>
        <p:spPr>
          <a:xfrm>
            <a:off x="1280160" y="3429000"/>
            <a:ext cx="9784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재전송·충돌·재시작에 대비</a:t>
            </a:r>
            <a:endParaRPr lang="en-US" sz="2300" dirty="0"/>
          </a:p>
        </p:txBody>
      </p:sp>
      <p:sp>
        <p:nvSpPr>
          <p:cNvPr id="12" name="Text 9"/>
          <p:cNvSpPr/>
          <p:nvPr/>
        </p:nvSpPr>
        <p:spPr>
          <a:xfrm>
            <a:off x="1280160" y="3959352"/>
            <a:ext cx="9784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중복 반영 방지 / 충돌 시 내용 보존 / AI 작업 복구</a:t>
            </a:r>
            <a:endParaRPr lang="en-US" sz="1700" dirty="0"/>
          </a:p>
        </p:txBody>
      </p:sp>
      <p:sp>
        <p:nvSpPr>
          <p:cNvPr id="13" name="Text 10"/>
          <p:cNvSpPr/>
          <p:nvPr/>
        </p:nvSpPr>
        <p:spPr>
          <a:xfrm>
            <a:off x="731520" y="4846320"/>
            <a:ext cx="502920" cy="365760"/>
          </a:xfrm>
          <a:prstGeom prst="rect">
            <a:avLst/>
          </a:prstGeom>
          <a:noFill/>
          <a:ln/>
        </p:spPr>
        <p:txBody>
          <a:bodyPr wrap="square" lIns="0" tIns="0" rIns="0" bIns="0" rtlCol="0" anchor="ctr"/>
          <a:lstStyle/>
          <a:p>
            <a:pPr indent="0" marL="0">
              <a:buNone/>
            </a:pPr>
            <a:r>
              <a:rPr lang="en-US" sz="1600" b="1" dirty="0">
                <a:solidFill>
                  <a:srgbClr val="405394"/>
                </a:solidFill>
                <a:latin typeface="Apple SD Gothic Neo" pitchFamily="34" charset="0"/>
                <a:ea typeface="Apple SD Gothic Neo" pitchFamily="34" charset="-122"/>
                <a:cs typeface="Apple SD Gothic Neo" pitchFamily="34" charset="-120"/>
              </a:rPr>
              <a:t>03</a:t>
            </a:r>
            <a:endParaRPr lang="en-US" sz="1600" dirty="0"/>
          </a:p>
        </p:txBody>
      </p:sp>
      <p:sp>
        <p:nvSpPr>
          <p:cNvPr id="14" name="Text 11"/>
          <p:cNvSpPr/>
          <p:nvPr/>
        </p:nvSpPr>
        <p:spPr>
          <a:xfrm>
            <a:off x="1280160" y="4846320"/>
            <a:ext cx="978408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삭제한 계정이 되살아나지 않도록</a:t>
            </a:r>
            <a:endParaRPr lang="en-US" sz="2300" dirty="0"/>
          </a:p>
        </p:txBody>
      </p:sp>
      <p:sp>
        <p:nvSpPr>
          <p:cNvPr id="15" name="Text 12"/>
          <p:cNvSpPr/>
          <p:nvPr/>
        </p:nvSpPr>
        <p:spPr>
          <a:xfrm>
            <a:off x="1280160" y="5376672"/>
            <a:ext cx="9784080" cy="731520"/>
          </a:xfrm>
          <a:prstGeom prst="rect">
            <a:avLst/>
          </a:prstGeom>
          <a:noFill/>
          <a:ln/>
        </p:spPr>
        <p:txBody>
          <a:bodyPr wrap="square" lIns="0" tIns="0" rIns="0" bIns="0" rtlCol="0" anchor="ctr"/>
          <a:lstStyle/>
          <a:p>
            <a:pPr indent="0" marL="0">
              <a:buNone/>
            </a:pPr>
            <a:r>
              <a:rPr lang="en-US" sz="1700" dirty="0">
                <a:solidFill>
                  <a:srgbClr val="626B80"/>
                </a:solidFill>
                <a:latin typeface="Apple SD Gothic Neo" pitchFamily="34" charset="0"/>
                <a:ea typeface="Apple SD Gothic Neo" pitchFamily="34" charset="-122"/>
                <a:cs typeface="Apple SD Gothic Neo" pitchFamily="34" charset="-120"/>
              </a:rPr>
              <a:t>앱·웹 삭제 경로 / 백업 30일 정책 / 복원 시 삭제 이력 반영</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VALIDATION</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동작한 것과, 아직 확인하지 않은 것을 구분합니다.</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08</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Shape 4"/>
          <p:cNvSpPr/>
          <p:nvPr/>
        </p:nvSpPr>
        <p:spPr>
          <a:xfrm>
            <a:off x="640080" y="1920240"/>
            <a:ext cx="5349240" cy="3611880"/>
          </a:xfrm>
          <a:prstGeom prst="roundRect">
            <a:avLst>
              <a:gd name="adj" fmla="val 5570"/>
            </a:avLst>
          </a:prstGeom>
          <a:solidFill>
            <a:srgbClr val="FFFFFF"/>
          </a:solidFill>
          <a:ln w="12700">
            <a:solidFill>
              <a:srgbClr val="FFFFFF">
                <a:alpha val="0"/>
              </a:srgbClr>
            </a:solidFill>
            <a:prstDash val="solid"/>
          </a:ln>
        </p:spPr>
      </p:sp>
      <p:sp>
        <p:nvSpPr>
          <p:cNvPr id="8" name="Shape 5"/>
          <p:cNvSpPr/>
          <p:nvPr/>
        </p:nvSpPr>
        <p:spPr>
          <a:xfrm>
            <a:off x="6217920" y="1920240"/>
            <a:ext cx="5349240" cy="3611880"/>
          </a:xfrm>
          <a:prstGeom prst="roundRect">
            <a:avLst>
              <a:gd name="adj" fmla="val 5570"/>
            </a:avLst>
          </a:prstGeom>
          <a:solidFill>
            <a:srgbClr val="DFE5FF"/>
          </a:solidFill>
          <a:ln w="12700">
            <a:solidFill>
              <a:srgbClr val="DFE5FF">
                <a:alpha val="0"/>
              </a:srgbClr>
            </a:solidFill>
            <a:prstDash val="solid"/>
          </a:ln>
        </p:spPr>
      </p:sp>
      <p:sp>
        <p:nvSpPr>
          <p:cNvPr id="9" name="Text 6"/>
          <p:cNvSpPr/>
          <p:nvPr/>
        </p:nvSpPr>
        <p:spPr>
          <a:xfrm>
            <a:off x="914400" y="2286000"/>
            <a:ext cx="4572000" cy="457200"/>
          </a:xfrm>
          <a:prstGeom prst="rect">
            <a:avLst/>
          </a:prstGeom>
          <a:noFill/>
          <a:ln/>
        </p:spPr>
        <p:txBody>
          <a:bodyPr wrap="square" lIns="0" tIns="0" rIns="0" bIns="0" rtlCol="0" anchor="ctr"/>
          <a:lstStyle/>
          <a:p>
            <a:pPr indent="0" marL="0">
              <a:buNone/>
            </a:pPr>
            <a:r>
              <a:rPr lang="en-US" sz="2800" b="1" dirty="0">
                <a:solidFill>
                  <a:srgbClr val="405394"/>
                </a:solidFill>
                <a:latin typeface="Apple SD Gothic Neo" pitchFamily="34" charset="0"/>
                <a:ea typeface="Apple SD Gothic Neo" pitchFamily="34" charset="-122"/>
                <a:cs typeface="Apple SD Gothic Neo" pitchFamily="34" charset="-120"/>
              </a:rPr>
              <a:t>직접 확인</a:t>
            </a:r>
            <a:endParaRPr lang="en-US" sz="2800" dirty="0"/>
          </a:p>
        </p:txBody>
      </p:sp>
      <p:sp>
        <p:nvSpPr>
          <p:cNvPr id="10" name="Text 7"/>
          <p:cNvSpPr/>
          <p:nvPr/>
        </p:nvSpPr>
        <p:spPr>
          <a:xfrm>
            <a:off x="914400" y="3063240"/>
            <a:ext cx="4663440" cy="1920240"/>
          </a:xfrm>
          <a:prstGeom prst="rect">
            <a:avLst/>
          </a:prstGeom>
          <a:noFill/>
          <a:ln/>
        </p:spPr>
        <p:txBody>
          <a:bodyPr wrap="square" lIns="0" tIns="0" rIns="0" bIns="0" rtlCol="0" anchor="ctr"/>
          <a:lstStyle/>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번역 → 저장 → 요약 → 할 일</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언어 반전 · 필터 · 화면 모드</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재실행 · 연결 중단 후 복구</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권한 거절 안내 · 알림 자동 닫힘</a:t>
            </a:r>
            <a:endParaRPr lang="en-US" sz="2200" dirty="0"/>
          </a:p>
        </p:txBody>
      </p:sp>
      <p:sp>
        <p:nvSpPr>
          <p:cNvPr id="11" name="Text 8"/>
          <p:cNvSpPr/>
          <p:nvPr/>
        </p:nvSpPr>
        <p:spPr>
          <a:xfrm>
            <a:off x="6492240" y="2286000"/>
            <a:ext cx="4572000" cy="457200"/>
          </a:xfrm>
          <a:prstGeom prst="rect">
            <a:avLst/>
          </a:prstGeom>
          <a:noFill/>
          <a:ln/>
        </p:spPr>
        <p:txBody>
          <a:bodyPr wrap="square" lIns="0" tIns="0" rIns="0" bIns="0" rtlCol="0" anchor="ctr"/>
          <a:lstStyle/>
          <a:p>
            <a:pPr indent="0" marL="0">
              <a:buNone/>
            </a:pPr>
            <a:r>
              <a:rPr lang="en-US" sz="2800" b="1" dirty="0">
                <a:solidFill>
                  <a:srgbClr val="405394"/>
                </a:solidFill>
                <a:latin typeface="Apple SD Gothic Neo" pitchFamily="34" charset="0"/>
                <a:ea typeface="Apple SD Gothic Neo" pitchFamily="34" charset="-122"/>
                <a:cs typeface="Apple SD Gothic Neo" pitchFamily="34" charset="-120"/>
              </a:rPr>
              <a:t>별도 확인 필요</a:t>
            </a:r>
            <a:endParaRPr lang="en-US" sz="2800" dirty="0"/>
          </a:p>
        </p:txBody>
      </p:sp>
      <p:sp>
        <p:nvSpPr>
          <p:cNvPr id="12" name="Text 9"/>
          <p:cNvSpPr/>
          <p:nvPr/>
        </p:nvSpPr>
        <p:spPr>
          <a:xfrm>
            <a:off x="6492240" y="3063240"/>
            <a:ext cx="4663440" cy="1920240"/>
          </a:xfrm>
          <a:prstGeom prst="rect">
            <a:avLst/>
          </a:prstGeom>
          <a:noFill/>
          <a:ln/>
        </p:spPr>
        <p:txBody>
          <a:bodyPr wrap="square" lIns="0" tIns="0" rIns="0" bIns="0" rtlCol="0" anchor="ctr"/>
          <a:lstStyle/>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실제 휴대전화와 마이크 · 청취</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운영 도메인 · 스토어 서명</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고유명사 등 음성 인식 품질</a:t>
            </a:r>
            <a:endParaRPr lang="en-US" sz="2200" dirty="0"/>
          </a:p>
          <a:p>
            <a:pPr indent="0" marL="0">
              <a:buNone/>
            </a:pPr>
            <a:r>
              <a:rPr lang="en-US" sz="2200" dirty="0">
                <a:solidFill>
                  <a:srgbClr val="242938"/>
                </a:solidFill>
                <a:latin typeface="Apple SD Gothic Neo" pitchFamily="34" charset="0"/>
                <a:ea typeface="Apple SD Gothic Neo" pitchFamily="34" charset="-122"/>
                <a:cs typeface="Apple SD Gothic Neo" pitchFamily="34" charset="-120"/>
              </a:rPr>
              <a:t>정확도는 입력 환경에 따라 달라짐</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405394"/>
                </a:solidFill>
                <a:latin typeface="Apple SD Gothic Neo" pitchFamily="34" charset="0"/>
                <a:ea typeface="Apple SD Gothic Neo" pitchFamily="34" charset="-122"/>
                <a:cs typeface="Apple SD Gothic Neo" pitchFamily="34" charset="-120"/>
              </a:rPr>
              <a:t>SPEECHBRIDGE  /  LIVE DEMO</a:t>
            </a:r>
            <a:endParaRPr lang="en-US" sz="1200" dirty="0"/>
          </a:p>
        </p:txBody>
      </p:sp>
      <p:sp>
        <p:nvSpPr>
          <p:cNvPr id="3" name="Text 1"/>
          <p:cNvSpPr/>
          <p:nvPr/>
        </p:nvSpPr>
        <p:spPr>
          <a:xfrm>
            <a:off x="502920" y="768096"/>
            <a:ext cx="11155680" cy="731520"/>
          </a:xfrm>
          <a:prstGeom prst="rect">
            <a:avLst/>
          </a:prstGeom>
          <a:noFill/>
          <a:ln/>
        </p:spPr>
        <p:txBody>
          <a:bodyPr wrap="square" lIns="0" tIns="0" rIns="0" bIns="0" rtlCol="0" anchor="ctr"/>
          <a:lstStyle/>
          <a:p>
            <a:pPr indent="0" marL="0">
              <a:buNone/>
            </a:pPr>
            <a:r>
              <a:rPr lang="en-US" sz="3400" b="1" dirty="0">
                <a:solidFill>
                  <a:srgbClr val="242938"/>
                </a:solidFill>
                <a:latin typeface="Apple SD Gothic Neo" pitchFamily="34" charset="0"/>
                <a:ea typeface="Apple SD Gothic Neo" pitchFamily="34" charset="-122"/>
                <a:cs typeface="Apple SD Gothic Neo" pitchFamily="34" charset="-120"/>
              </a:rPr>
              <a:t>한 문장이 기록과 할 일이 되는 과정.</a:t>
            </a:r>
            <a:endParaRPr lang="en-US" sz="3400" dirty="0"/>
          </a:p>
        </p:txBody>
      </p:sp>
      <p:sp>
        <p:nvSpPr>
          <p:cNvPr id="4" name="Text 2"/>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09</a:t>
            </a:r>
            <a:endParaRPr lang="en-US" sz="1000" dirty="0"/>
          </a:p>
        </p:txBody>
      </p:sp>
      <p:sp>
        <p:nvSpPr>
          <p:cNvPr id="5" name="Text 3"/>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626B80"/>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7" name="Text 4"/>
          <p:cNvSpPr/>
          <p:nvPr/>
        </p:nvSpPr>
        <p:spPr>
          <a:xfrm>
            <a:off x="731520" y="1828800"/>
            <a:ext cx="10698480" cy="731520"/>
          </a:xfrm>
          <a:prstGeom prst="rect">
            <a:avLst/>
          </a:prstGeom>
          <a:noFill/>
          <a:ln/>
        </p:spPr>
        <p:txBody>
          <a:bodyPr wrap="square" lIns="0" tIns="0" rIns="0" bIns="0" rtlCol="0" anchor="ctr"/>
          <a:lstStyle/>
          <a:p>
            <a:pPr indent="0" marL="0">
              <a:buNone/>
            </a:pPr>
            <a:r>
              <a:rPr lang="en-US" sz="3000" b="1" dirty="0">
                <a:solidFill>
                  <a:srgbClr val="405394"/>
                </a:solidFill>
                <a:latin typeface="Apple SD Gothic Neo" pitchFamily="34" charset="0"/>
                <a:ea typeface="Apple SD Gothic Neo" pitchFamily="34" charset="-122"/>
                <a:cs typeface="Apple SD Gothic Neo" pitchFamily="34" charset="-120"/>
              </a:rPr>
              <a:t>“please prepare demo slides by friday”</a:t>
            </a:r>
            <a:endParaRPr lang="en-US" sz="3000" dirty="0"/>
          </a:p>
        </p:txBody>
      </p:sp>
      <p:sp>
        <p:nvSpPr>
          <p:cNvPr id="8" name="Shape 5"/>
          <p:cNvSpPr/>
          <p:nvPr/>
        </p:nvSpPr>
        <p:spPr>
          <a:xfrm>
            <a:off x="731520" y="3200400"/>
            <a:ext cx="2606040" cy="1463040"/>
          </a:xfrm>
          <a:prstGeom prst="roundRect">
            <a:avLst>
              <a:gd name="adj" fmla="val 13750"/>
            </a:avLst>
          </a:prstGeom>
          <a:solidFill>
            <a:srgbClr val="FFFFFF"/>
          </a:solidFill>
          <a:ln w="12700">
            <a:solidFill>
              <a:srgbClr val="FFFFFF">
                <a:alpha val="0"/>
              </a:srgbClr>
            </a:solidFill>
            <a:prstDash val="solid"/>
          </a:ln>
        </p:spPr>
      </p:sp>
      <p:sp>
        <p:nvSpPr>
          <p:cNvPr id="9" name="Text 6"/>
          <p:cNvSpPr/>
          <p:nvPr/>
        </p:nvSpPr>
        <p:spPr>
          <a:xfrm>
            <a:off x="960120" y="3401568"/>
            <a:ext cx="2103120" cy="320040"/>
          </a:xfrm>
          <a:prstGeom prst="rect">
            <a:avLst/>
          </a:prstGeom>
          <a:noFill/>
          <a:ln/>
        </p:spPr>
        <p:txBody>
          <a:bodyPr wrap="square" lIns="0" tIns="0" rIns="0" bIns="0" rtlCol="0" anchor="ctr"/>
          <a:lstStyle/>
          <a:p>
            <a:pPr indent="0" marL="0">
              <a:buNone/>
            </a:pPr>
            <a:r>
              <a:rPr lang="en-US" sz="1400" b="1" dirty="0">
                <a:solidFill>
                  <a:srgbClr val="626B80"/>
                </a:solidFill>
                <a:latin typeface="Apple SD Gothic Neo" pitchFamily="34" charset="0"/>
                <a:ea typeface="Apple SD Gothic Neo" pitchFamily="34" charset="-122"/>
                <a:cs typeface="Apple SD Gothic Neo" pitchFamily="34" charset="-120"/>
              </a:rPr>
              <a:t>1</a:t>
            </a:r>
            <a:endParaRPr lang="en-US" sz="1400" dirty="0"/>
          </a:p>
        </p:txBody>
      </p:sp>
      <p:sp>
        <p:nvSpPr>
          <p:cNvPr id="10" name="Text 7"/>
          <p:cNvSpPr/>
          <p:nvPr/>
        </p:nvSpPr>
        <p:spPr>
          <a:xfrm>
            <a:off x="960120" y="3913632"/>
            <a:ext cx="21031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입력·번역</a:t>
            </a:r>
            <a:endParaRPr lang="en-US" sz="2300" dirty="0"/>
          </a:p>
        </p:txBody>
      </p:sp>
      <p:sp>
        <p:nvSpPr>
          <p:cNvPr id="11" name="Shape 8"/>
          <p:cNvSpPr/>
          <p:nvPr/>
        </p:nvSpPr>
        <p:spPr>
          <a:xfrm>
            <a:off x="3593592" y="3200400"/>
            <a:ext cx="2606040" cy="1463040"/>
          </a:xfrm>
          <a:prstGeom prst="roundRect">
            <a:avLst>
              <a:gd name="adj" fmla="val 13750"/>
            </a:avLst>
          </a:prstGeom>
          <a:solidFill>
            <a:srgbClr val="FFFFFF"/>
          </a:solidFill>
          <a:ln w="12700">
            <a:solidFill>
              <a:srgbClr val="FFFFFF">
                <a:alpha val="0"/>
              </a:srgbClr>
            </a:solidFill>
            <a:prstDash val="solid"/>
          </a:ln>
        </p:spPr>
      </p:sp>
      <p:sp>
        <p:nvSpPr>
          <p:cNvPr id="12" name="Text 9"/>
          <p:cNvSpPr/>
          <p:nvPr/>
        </p:nvSpPr>
        <p:spPr>
          <a:xfrm>
            <a:off x="3822192" y="3401568"/>
            <a:ext cx="2103120" cy="320040"/>
          </a:xfrm>
          <a:prstGeom prst="rect">
            <a:avLst/>
          </a:prstGeom>
          <a:noFill/>
          <a:ln/>
        </p:spPr>
        <p:txBody>
          <a:bodyPr wrap="square" lIns="0" tIns="0" rIns="0" bIns="0" rtlCol="0" anchor="ctr"/>
          <a:lstStyle/>
          <a:p>
            <a:pPr indent="0" marL="0">
              <a:buNone/>
            </a:pPr>
            <a:r>
              <a:rPr lang="en-US" sz="1400" b="1" dirty="0">
                <a:solidFill>
                  <a:srgbClr val="626B80"/>
                </a:solidFill>
                <a:latin typeface="Apple SD Gothic Neo" pitchFamily="34" charset="0"/>
                <a:ea typeface="Apple SD Gothic Neo" pitchFamily="34" charset="-122"/>
                <a:cs typeface="Apple SD Gothic Neo" pitchFamily="34" charset="-120"/>
              </a:rPr>
              <a:t>2</a:t>
            </a:r>
            <a:endParaRPr lang="en-US" sz="1400" dirty="0"/>
          </a:p>
        </p:txBody>
      </p:sp>
      <p:sp>
        <p:nvSpPr>
          <p:cNvPr id="13" name="Text 10"/>
          <p:cNvSpPr/>
          <p:nvPr/>
        </p:nvSpPr>
        <p:spPr>
          <a:xfrm>
            <a:off x="3822192" y="3913632"/>
            <a:ext cx="21031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종료·요약</a:t>
            </a:r>
            <a:endParaRPr lang="en-US" sz="2300" dirty="0"/>
          </a:p>
        </p:txBody>
      </p:sp>
      <p:sp>
        <p:nvSpPr>
          <p:cNvPr id="14" name="Shape 11"/>
          <p:cNvSpPr/>
          <p:nvPr/>
        </p:nvSpPr>
        <p:spPr>
          <a:xfrm>
            <a:off x="6455664" y="3200400"/>
            <a:ext cx="2606040" cy="1463040"/>
          </a:xfrm>
          <a:prstGeom prst="roundRect">
            <a:avLst>
              <a:gd name="adj" fmla="val 13750"/>
            </a:avLst>
          </a:prstGeom>
          <a:solidFill>
            <a:srgbClr val="FFFFFF"/>
          </a:solidFill>
          <a:ln w="12700">
            <a:solidFill>
              <a:srgbClr val="FFFFFF">
                <a:alpha val="0"/>
              </a:srgbClr>
            </a:solidFill>
            <a:prstDash val="solid"/>
          </a:ln>
        </p:spPr>
      </p:sp>
      <p:sp>
        <p:nvSpPr>
          <p:cNvPr id="15" name="Text 12"/>
          <p:cNvSpPr/>
          <p:nvPr/>
        </p:nvSpPr>
        <p:spPr>
          <a:xfrm>
            <a:off x="6684264" y="3401568"/>
            <a:ext cx="2103120" cy="320040"/>
          </a:xfrm>
          <a:prstGeom prst="rect">
            <a:avLst/>
          </a:prstGeom>
          <a:noFill/>
          <a:ln/>
        </p:spPr>
        <p:txBody>
          <a:bodyPr wrap="square" lIns="0" tIns="0" rIns="0" bIns="0" rtlCol="0" anchor="ctr"/>
          <a:lstStyle/>
          <a:p>
            <a:pPr indent="0" marL="0">
              <a:buNone/>
            </a:pPr>
            <a:r>
              <a:rPr lang="en-US" sz="1400" b="1" dirty="0">
                <a:solidFill>
                  <a:srgbClr val="626B80"/>
                </a:solidFill>
                <a:latin typeface="Apple SD Gothic Neo" pitchFamily="34" charset="0"/>
                <a:ea typeface="Apple SD Gothic Neo" pitchFamily="34" charset="-122"/>
                <a:cs typeface="Apple SD Gothic Neo" pitchFamily="34" charset="-120"/>
              </a:rPr>
              <a:t>3</a:t>
            </a:r>
            <a:endParaRPr lang="en-US" sz="1400" dirty="0"/>
          </a:p>
        </p:txBody>
      </p:sp>
      <p:sp>
        <p:nvSpPr>
          <p:cNvPr id="16" name="Text 13"/>
          <p:cNvSpPr/>
          <p:nvPr/>
        </p:nvSpPr>
        <p:spPr>
          <a:xfrm>
            <a:off x="6684264" y="3913632"/>
            <a:ext cx="21031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근거 확인</a:t>
            </a:r>
            <a:endParaRPr lang="en-US" sz="2300" dirty="0"/>
          </a:p>
        </p:txBody>
      </p:sp>
      <p:sp>
        <p:nvSpPr>
          <p:cNvPr id="17" name="Shape 14"/>
          <p:cNvSpPr/>
          <p:nvPr/>
        </p:nvSpPr>
        <p:spPr>
          <a:xfrm>
            <a:off x="9317736" y="3200400"/>
            <a:ext cx="2606040" cy="1463040"/>
          </a:xfrm>
          <a:prstGeom prst="roundRect">
            <a:avLst>
              <a:gd name="adj" fmla="val 13750"/>
            </a:avLst>
          </a:prstGeom>
          <a:solidFill>
            <a:srgbClr val="FFFFFF"/>
          </a:solidFill>
          <a:ln w="12700">
            <a:solidFill>
              <a:srgbClr val="FFFFFF">
                <a:alpha val="0"/>
              </a:srgbClr>
            </a:solidFill>
            <a:prstDash val="solid"/>
          </a:ln>
        </p:spPr>
      </p:sp>
      <p:sp>
        <p:nvSpPr>
          <p:cNvPr id="18" name="Text 15"/>
          <p:cNvSpPr/>
          <p:nvPr/>
        </p:nvSpPr>
        <p:spPr>
          <a:xfrm>
            <a:off x="9546336" y="3401568"/>
            <a:ext cx="2103120" cy="320040"/>
          </a:xfrm>
          <a:prstGeom prst="rect">
            <a:avLst/>
          </a:prstGeom>
          <a:noFill/>
          <a:ln/>
        </p:spPr>
        <p:txBody>
          <a:bodyPr wrap="square" lIns="0" tIns="0" rIns="0" bIns="0" rtlCol="0" anchor="ctr"/>
          <a:lstStyle/>
          <a:p>
            <a:pPr indent="0" marL="0">
              <a:buNone/>
            </a:pPr>
            <a:r>
              <a:rPr lang="en-US" sz="1400" b="1" dirty="0">
                <a:solidFill>
                  <a:srgbClr val="626B80"/>
                </a:solidFill>
                <a:latin typeface="Apple SD Gothic Neo" pitchFamily="34" charset="0"/>
                <a:ea typeface="Apple SD Gothic Neo" pitchFamily="34" charset="-122"/>
                <a:cs typeface="Apple SD Gothic Neo" pitchFamily="34" charset="-120"/>
              </a:rPr>
              <a:t>4</a:t>
            </a:r>
            <a:endParaRPr lang="en-US" sz="1400" dirty="0"/>
          </a:p>
        </p:txBody>
      </p:sp>
      <p:sp>
        <p:nvSpPr>
          <p:cNvPr id="19" name="Text 16"/>
          <p:cNvSpPr/>
          <p:nvPr/>
        </p:nvSpPr>
        <p:spPr>
          <a:xfrm>
            <a:off x="9546336" y="3913632"/>
            <a:ext cx="2103120" cy="411480"/>
          </a:xfrm>
          <a:prstGeom prst="rect">
            <a:avLst/>
          </a:prstGeom>
          <a:noFill/>
          <a:ln/>
        </p:spPr>
        <p:txBody>
          <a:bodyPr wrap="square" lIns="0" tIns="0" rIns="0" bIns="0" rtlCol="0" anchor="ctr"/>
          <a:lstStyle/>
          <a:p>
            <a:pPr indent="0" marL="0">
              <a:buNone/>
            </a:pPr>
            <a:r>
              <a:rPr lang="en-US" sz="2300" b="1" dirty="0">
                <a:solidFill>
                  <a:srgbClr val="242938"/>
                </a:solidFill>
                <a:latin typeface="Apple SD Gothic Neo" pitchFamily="34" charset="0"/>
                <a:ea typeface="Apple SD Gothic Neo" pitchFamily="34" charset="-122"/>
                <a:cs typeface="Apple SD Gothic Neo" pitchFamily="34" charset="-120"/>
              </a:rPr>
              <a:t>할 일 완료</a:t>
            </a:r>
            <a:endParaRPr lang="en-US" sz="2300" dirty="0"/>
          </a:p>
        </p:txBody>
      </p:sp>
      <p:sp>
        <p:nvSpPr>
          <p:cNvPr id="20" name="Text 17"/>
          <p:cNvSpPr/>
          <p:nvPr/>
        </p:nvSpPr>
        <p:spPr>
          <a:xfrm>
            <a:off x="822960" y="5394960"/>
            <a:ext cx="10607040" cy="457200"/>
          </a:xfrm>
          <a:prstGeom prst="rect">
            <a:avLst/>
          </a:prstGeom>
          <a:noFill/>
          <a:ln/>
        </p:spPr>
        <p:txBody>
          <a:bodyPr wrap="square" lIns="0" tIns="0" rIns="0" bIns="0" rtlCol="0" anchor="ctr"/>
          <a:lstStyle/>
          <a:p>
            <a:pPr indent="0" marL="0">
              <a:buNone/>
            </a:pPr>
            <a:r>
              <a:rPr lang="en-US" sz="2000" dirty="0">
                <a:solidFill>
                  <a:srgbClr val="626B80"/>
                </a:solidFill>
                <a:latin typeface="Apple SD Gothic Neo" pitchFamily="34" charset="0"/>
                <a:ea typeface="Apple SD Gothic Neo" pitchFamily="34" charset="-122"/>
                <a:cs typeface="Apple SD Gothic Neo" pitchFamily="34" charset="-120"/>
              </a:rPr>
              <a:t>시연 예시 데이터 사용 · AI 응답은 실행마다 달라질 수 있습니다.</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A29"/>
        </a:solidFill>
      </p:bgPr>
    </p:bg>
    <p:spTree>
      <p:nvGrpSpPr>
        <p:cNvPr id="1" name=""/>
        <p:cNvGrpSpPr/>
        <p:nvPr/>
      </p:nvGrpSpPr>
      <p:grpSpPr>
        <a:xfrm>
          <a:off x="0" y="0"/>
          <a:ext cx="0" cy="0"/>
          <a:chOff x="0" y="0"/>
          <a:chExt cx="0" cy="0"/>
        </a:xfrm>
      </p:grpSpPr>
      <p:sp>
        <p:nvSpPr>
          <p:cNvPr id="2" name="Text 0"/>
          <p:cNvSpPr/>
          <p:nvPr/>
        </p:nvSpPr>
        <p:spPr>
          <a:xfrm>
            <a:off x="502920" y="274320"/>
            <a:ext cx="10058400" cy="274320"/>
          </a:xfrm>
          <a:prstGeom prst="rect">
            <a:avLst/>
          </a:prstGeom>
          <a:noFill/>
          <a:ln/>
        </p:spPr>
        <p:txBody>
          <a:bodyPr wrap="square" lIns="0" tIns="0" rIns="0" bIns="0" rtlCol="0" anchor="ctr"/>
          <a:lstStyle/>
          <a:p>
            <a:pPr indent="0" marL="0">
              <a:buNone/>
            </a:pPr>
            <a:r>
              <a:rPr lang="en-US" sz="1200" b="1" dirty="0">
                <a:solidFill>
                  <a:srgbClr val="DFE5FF"/>
                </a:solidFill>
                <a:latin typeface="Apple SD Gothic Neo" pitchFamily="34" charset="0"/>
                <a:ea typeface="Apple SD Gothic Neo" pitchFamily="34" charset="-122"/>
                <a:cs typeface="Apple SD Gothic Neo" pitchFamily="34" charset="-120"/>
              </a:rPr>
              <a:t>SPEECHBRIDGE  /  SPEECHBRIDGE</a:t>
            </a:r>
            <a:endParaRPr lang="en-US" sz="1200" dirty="0"/>
          </a:p>
        </p:txBody>
      </p:sp>
      <p:sp>
        <p:nvSpPr>
          <p:cNvPr id="3" name="Text 1"/>
          <p:cNvSpPr/>
          <p:nvPr/>
        </p:nvSpPr>
        <p:spPr>
          <a:xfrm>
            <a:off x="11201400" y="6419088"/>
            <a:ext cx="457200" cy="182880"/>
          </a:xfrm>
          <a:prstGeom prst="rect">
            <a:avLst/>
          </a:prstGeom>
          <a:noFill/>
          <a:ln/>
        </p:spPr>
        <p:txBody>
          <a:bodyPr wrap="square" lIns="0" tIns="0" rIns="0" bIns="0" rtlCol="0" anchor="ctr"/>
          <a:lstStyle/>
          <a:p>
            <a:pPr indent="0" marL="0">
              <a:buNone/>
            </a:pPr>
            <a:r>
              <a:rPr lang="en-US" sz="1000" dirty="0">
                <a:solidFill>
                  <a:srgbClr val="DFE5FF"/>
                </a:solidFill>
                <a:latin typeface="Apple SD Gothic Neo" pitchFamily="34" charset="0"/>
                <a:ea typeface="Apple SD Gothic Neo" pitchFamily="34" charset="-122"/>
                <a:cs typeface="Apple SD Gothic Neo" pitchFamily="34" charset="-120"/>
              </a:rPr>
              <a:t>10</a:t>
            </a:r>
            <a:endParaRPr lang="en-US" sz="1000" dirty="0"/>
          </a:p>
        </p:txBody>
      </p:sp>
      <p:sp>
        <p:nvSpPr>
          <p:cNvPr id="4" name="Text 2"/>
          <p:cNvSpPr/>
          <p:nvPr/>
        </p:nvSpPr>
        <p:spPr>
          <a:xfrm>
            <a:off x="502920" y="6419088"/>
            <a:ext cx="9144000" cy="182880"/>
          </a:xfrm>
          <a:prstGeom prst="rect">
            <a:avLst/>
          </a:prstGeom>
          <a:noFill/>
          <a:ln/>
        </p:spPr>
        <p:txBody>
          <a:bodyPr wrap="square" lIns="0" tIns="0" rIns="0" bIns="0" rtlCol="0" anchor="ctr"/>
          <a:lstStyle/>
          <a:p>
            <a:pPr indent="0" marL="0">
              <a:buNone/>
            </a:pPr>
            <a:r>
              <a:rPr lang="en-US" sz="1000" dirty="0">
                <a:solidFill>
                  <a:srgbClr val="DFE5FF"/>
                </a:solidFill>
                <a:latin typeface="Apple SD Gothic Neo" pitchFamily="34" charset="0"/>
                <a:ea typeface="Apple SD Gothic Neo" pitchFamily="34" charset="-122"/>
                <a:cs typeface="Apple SD Gothic Neo" pitchFamily="34" charset="-120"/>
              </a:rPr>
              <a:t>학교 과제 · 실제 앱 캡처 / 합성 시연 데이터</a:t>
            </a:r>
            <a:endParaRPr lang="en-US" sz="1000" dirty="0"/>
          </a:p>
        </p:txBody>
      </p:sp>
      <p:sp>
        <p:nvSpPr>
          <p:cNvPr id="6" name="Text 3"/>
          <p:cNvSpPr/>
          <p:nvPr/>
        </p:nvSpPr>
        <p:spPr>
          <a:xfrm>
            <a:off x="640080" y="1463040"/>
            <a:ext cx="10881360" cy="1783080"/>
          </a:xfrm>
          <a:prstGeom prst="rect">
            <a:avLst/>
          </a:prstGeom>
          <a:noFill/>
          <a:ln/>
        </p:spPr>
        <p:txBody>
          <a:bodyPr wrap="square" lIns="0" tIns="0" rIns="0" bIns="0" rtlCol="0" anchor="ctr"/>
          <a:lstStyle/>
          <a:p>
            <a:pPr indent="0" marL="0">
              <a:buNone/>
            </a:pPr>
            <a:r>
              <a:rPr lang="en-US" sz="4400" b="1" dirty="0">
                <a:solidFill>
                  <a:srgbClr val="FFFFFF"/>
                </a:solidFill>
                <a:latin typeface="Apple SD Gothic Neo" pitchFamily="34" charset="0"/>
                <a:ea typeface="Apple SD Gothic Neo" pitchFamily="34" charset="-122"/>
                <a:cs typeface="Apple SD Gothic Neo" pitchFamily="34" charset="-120"/>
              </a:rPr>
              <a:t>대화가 끝나도,</a:t>
            </a:r>
            <a:endParaRPr lang="en-US" sz="4400" dirty="0"/>
          </a:p>
          <a:p>
            <a:pPr indent="0" marL="0">
              <a:buNone/>
            </a:pPr>
            <a:r>
              <a:rPr lang="en-US" sz="4400" b="1" dirty="0">
                <a:solidFill>
                  <a:srgbClr val="FFFFFF"/>
                </a:solidFill>
                <a:latin typeface="Apple SD Gothic Neo" pitchFamily="34" charset="0"/>
                <a:ea typeface="Apple SD Gothic Neo" pitchFamily="34" charset="-122"/>
                <a:cs typeface="Apple SD Gothic Neo" pitchFamily="34" charset="-120"/>
              </a:rPr>
              <a:t>기록과 할 일은 남습니다.</a:t>
            </a:r>
            <a:endParaRPr lang="en-US" sz="4400" dirty="0"/>
          </a:p>
        </p:txBody>
      </p:sp>
      <p:sp>
        <p:nvSpPr>
          <p:cNvPr id="7" name="Text 4"/>
          <p:cNvSpPr/>
          <p:nvPr/>
        </p:nvSpPr>
        <p:spPr>
          <a:xfrm>
            <a:off x="731520" y="3886200"/>
            <a:ext cx="10058400" cy="594360"/>
          </a:xfrm>
          <a:prstGeom prst="rect">
            <a:avLst/>
          </a:prstGeom>
          <a:noFill/>
          <a:ln/>
        </p:spPr>
        <p:txBody>
          <a:bodyPr wrap="square" lIns="0" tIns="0" rIns="0" bIns="0" rtlCol="0" anchor="ctr"/>
          <a:lstStyle/>
          <a:p>
            <a:pPr indent="0" marL="0">
              <a:buNone/>
            </a:pPr>
            <a:r>
              <a:rPr lang="en-US" sz="3200" b="1" dirty="0">
                <a:solidFill>
                  <a:srgbClr val="DFE5FF"/>
                </a:solidFill>
                <a:latin typeface="Apple SD Gothic Neo" pitchFamily="34" charset="0"/>
                <a:ea typeface="Apple SD Gothic Neo" pitchFamily="34" charset="-122"/>
                <a:cs typeface="Apple SD Gothic Neo" pitchFamily="34" charset="-120"/>
              </a:rPr>
              <a:t>SpeechBridge</a:t>
            </a:r>
            <a:endParaRPr lang="en-US" sz="3200" dirty="0"/>
          </a:p>
        </p:txBody>
      </p:sp>
      <p:sp>
        <p:nvSpPr>
          <p:cNvPr id="8" name="Text 5"/>
          <p:cNvSpPr/>
          <p:nvPr/>
        </p:nvSpPr>
        <p:spPr>
          <a:xfrm>
            <a:off x="731520" y="4800600"/>
            <a:ext cx="10058400" cy="411480"/>
          </a:xfrm>
          <a:prstGeom prst="rect">
            <a:avLst/>
          </a:prstGeom>
          <a:noFill/>
          <a:ln/>
        </p:spPr>
        <p:txBody>
          <a:bodyPr wrap="square" lIns="0" tIns="0" rIns="0" bIns="0" rtlCol="0" anchor="ctr"/>
          <a:lstStyle/>
          <a:p>
            <a:pPr indent="0" marL="0">
              <a:buNone/>
            </a:pPr>
            <a:r>
              <a:rPr lang="en-US" sz="2400" dirty="0">
                <a:solidFill>
                  <a:srgbClr val="DFE5FF"/>
                </a:solidFill>
                <a:latin typeface="Apple SD Gothic Neo" pitchFamily="34" charset="0"/>
                <a:ea typeface="Apple SD Gothic Neo" pitchFamily="34" charset="-122"/>
                <a:cs typeface="Apple SD Gothic Neo" pitchFamily="34" charset="-120"/>
              </a:rPr>
              <a:t>github.com/slfkalstks/SpeechBridge</a:t>
            </a:r>
            <a:endParaRPr lang="en-US" sz="2400" dirty="0"/>
          </a:p>
        </p:txBody>
      </p:sp>
      <p:sp>
        <p:nvSpPr>
          <p:cNvPr id="9" name="Text 6"/>
          <p:cNvSpPr/>
          <p:nvPr/>
        </p:nvSpPr>
        <p:spPr>
          <a:xfrm>
            <a:off x="731520" y="5486400"/>
            <a:ext cx="10058400" cy="365760"/>
          </a:xfrm>
          <a:prstGeom prst="rect">
            <a:avLst/>
          </a:prstGeom>
          <a:noFill/>
          <a:ln/>
        </p:spPr>
        <p:txBody>
          <a:bodyPr wrap="square" lIns="0" tIns="0" rIns="0" bIns="0" rtlCol="0" anchor="ctr"/>
          <a:lstStyle/>
          <a:p>
            <a:pPr indent="0" marL="0">
              <a:buNone/>
            </a:pPr>
            <a:r>
              <a:rPr lang="en-US" sz="1800" dirty="0">
                <a:solidFill>
                  <a:srgbClr val="DFE5FF"/>
                </a:solidFill>
                <a:latin typeface="Apple SD Gothic Neo" pitchFamily="34" charset="0"/>
                <a:ea typeface="Apple SD Gothic Neo" pitchFamily="34" charset="-122"/>
                <a:cs typeface="Apple SD Gothic Neo" pitchFamily="34" charset="-120"/>
              </a:rPr>
              <a:t>시연 절차 · 구현 코드 · 검증 근거 · 발표 자료</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 SD Gothic Ne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SpeechBridge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SpeechBridge — 대화에서 실행까지</dc:title>
  <dc:subject>학교 과제 · 앱 구현과 시연</dc:subject>
  <dc:creator>SpeechBridge</dc:creator>
  <cp:lastModifiedBy>SpeechBridge</cp:lastModifiedBy>
  <cp:revision>1</cp:revision>
  <dcterms:created xsi:type="dcterms:W3CDTF">2026-10-18T23:51:28Z</dcterms:created>
  <dcterms:modified xsi:type="dcterms:W3CDTF">2026-10-18T23:51:28Z</dcterms:modified>
</cp:coreProperties>
</file>